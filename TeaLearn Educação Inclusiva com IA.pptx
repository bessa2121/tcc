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5"/>
  </p:notesMasterIdLst>
  <p:sldIdLst>
    <p:sldId id="256" r:id="rId2"/>
    <p:sldId id="272" r:id="rId3"/>
    <p:sldId id="257" r:id="rId4"/>
    <p:sldId id="258" r:id="rId5"/>
    <p:sldId id="260" r:id="rId6"/>
    <p:sldId id="275" r:id="rId7"/>
    <p:sldId id="276" r:id="rId8"/>
    <p:sldId id="266" r:id="rId9"/>
    <p:sldId id="268" r:id="rId10"/>
    <p:sldId id="269" r:id="rId11"/>
    <p:sldId id="261" r:id="rId12"/>
    <p:sldId id="277" r:id="rId13"/>
    <p:sldId id="278" r:id="rId14"/>
    <p:sldId id="279" r:id="rId15"/>
    <p:sldId id="270" r:id="rId16"/>
    <p:sldId id="282" r:id="rId17"/>
    <p:sldId id="283" r:id="rId18"/>
    <p:sldId id="263" r:id="rId19"/>
    <p:sldId id="273" r:id="rId20"/>
    <p:sldId id="274" r:id="rId21"/>
    <p:sldId id="271" r:id="rId22"/>
    <p:sldId id="262" r:id="rId23"/>
    <p:sldId id="265" r:id="rId24"/>
  </p:sldIdLst>
  <p:sldSz cx="18288000" cy="10287000"/>
  <p:notesSz cx="6858000" cy="9144000"/>
  <p:embeddedFontLst>
    <p:embeddedFont>
      <p:font typeface="Open Sans Bold" panose="020B0604020202020204" charset="0"/>
      <p:regular r:id="rId26"/>
    </p:embeddedFont>
    <p:embeddedFont>
      <p:font typeface="TT Supermolot Neue Expanded" panose="020B0604020202020204" charset="0"/>
      <p:regular r:id="rId27"/>
    </p:embeddedFont>
    <p:embeddedFont>
      <p:font typeface="Open Sans" panose="020B0604020202020204" charset="0"/>
      <p:regular r:id="rId28"/>
    </p:embeddedFont>
    <p:embeddedFont>
      <p:font typeface="Calibri" panose="020F0502020204030204" pitchFamily="34" charset="0"/>
      <p:regular r:id="rId29"/>
      <p:bold r:id="rId30"/>
      <p:italic r:id="rId31"/>
      <p:boldItalic r:id="rId32"/>
    </p:embeddedFont>
    <p:embeddedFont>
      <p:font typeface="TT Supermolot Neue Expanded Bold" panose="020B0604020202020204" charset="0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2" d="100"/>
          <a:sy n="72" d="100"/>
        </p:scale>
        <p:origin x="96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8934C4-5F67-44AB-9B52-0A195AA63C05}" type="datetimeFigureOut">
              <a:rPr lang="pt-BR" smtClean="0"/>
              <a:t>02/09/2026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7F720E-D31E-4034-AB0C-8CD2D890DB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2670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7F720E-D31E-4034-AB0C-8CD2D890DB8F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46478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9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6.sv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6.sv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6.sv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6.sv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10.png"/><Relationship Id="rId4" Type="http://schemas.openxmlformats.org/officeDocument/2006/relationships/image" Target="../media/image4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10.png"/><Relationship Id="rId4" Type="http://schemas.openxmlformats.org/officeDocument/2006/relationships/image" Target="../media/image4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6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6.sv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6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1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6.svg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6.svg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6.svg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6.sv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66" b="-666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5480" y="2944884"/>
            <a:ext cx="9034010" cy="1153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322"/>
              </a:lnSpc>
              <a:spcBef>
                <a:spcPct val="0"/>
              </a:spcBef>
            </a:pPr>
            <a:r>
              <a:rPr lang="en-US" sz="6658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TEALEARN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71550" y="4606260"/>
            <a:ext cx="10229895" cy="855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945"/>
              </a:lnSpc>
              <a:spcBef>
                <a:spcPct val="0"/>
              </a:spcBef>
            </a:pPr>
            <a:r>
              <a:rPr lang="en-US" sz="4960" b="1" dirty="0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PLATAFORMA INTELIGENTE</a:t>
            </a:r>
          </a:p>
        </p:txBody>
      </p:sp>
      <p:sp>
        <p:nvSpPr>
          <p:cNvPr id="5" name="Freeform 5"/>
          <p:cNvSpPr/>
          <p:nvPr/>
        </p:nvSpPr>
        <p:spPr>
          <a:xfrm>
            <a:off x="944965" y="907230"/>
            <a:ext cx="619853" cy="519722"/>
          </a:xfrm>
          <a:custGeom>
            <a:avLst/>
            <a:gdLst/>
            <a:ahLst/>
            <a:cxnLst/>
            <a:rect l="l" t="t" r="r" b="b"/>
            <a:pathLst>
              <a:path w="619853" h="519722">
                <a:moveTo>
                  <a:pt x="0" y="0"/>
                </a:moveTo>
                <a:lnTo>
                  <a:pt x="619852" y="0"/>
                </a:lnTo>
                <a:lnTo>
                  <a:pt x="619852" y="519722"/>
                </a:lnTo>
                <a:lnTo>
                  <a:pt x="0" y="5197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721518" y="1050572"/>
            <a:ext cx="2281415" cy="406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24"/>
              </a:lnSpc>
              <a:spcBef>
                <a:spcPct val="0"/>
              </a:spcBef>
            </a:pPr>
            <a:r>
              <a:rPr lang="en-US" sz="2302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TEALEARN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84453" y="6693339"/>
            <a:ext cx="5729168" cy="540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Adaptação de Materiais Didáticos com Inteligência Artificial</a:t>
            </a:r>
          </a:p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Projeto de Trabalho de Conclusão de Curso</a:t>
            </a:r>
          </a:p>
        </p:txBody>
      </p:sp>
      <p:sp>
        <p:nvSpPr>
          <p:cNvPr id="8" name="AutoShape 8"/>
          <p:cNvSpPr/>
          <p:nvPr/>
        </p:nvSpPr>
        <p:spPr>
          <a:xfrm>
            <a:off x="1047750" y="6721914"/>
            <a:ext cx="0" cy="598393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eform 2"/>
          <p:cNvSpPr/>
          <p:nvPr/>
        </p:nvSpPr>
        <p:spPr>
          <a:xfrm>
            <a:off x="0" y="-1089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5480" y="2324100"/>
            <a:ext cx="9034010" cy="1153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322"/>
              </a:lnSpc>
              <a:spcBef>
                <a:spcPct val="0"/>
              </a:spcBef>
            </a:pPr>
            <a:r>
              <a:rPr lang="en-US" sz="6658" b="1" dirty="0" smtClean="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QUEM SOMOS</a:t>
            </a:r>
            <a:endParaRPr lang="en-US" sz="6658" b="1" dirty="0">
              <a:solidFill>
                <a:srgbClr val="FFFFFF"/>
              </a:solidFill>
              <a:latin typeface="TT Supermolot Neue Expanded"/>
              <a:ea typeface="TT Supermolot Neue Expanded"/>
              <a:cs typeface="TT Supermolot Neue Expanded"/>
              <a:sym typeface="TT Supermolot Neue Expanded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944965" y="907230"/>
            <a:ext cx="619853" cy="519722"/>
          </a:xfrm>
          <a:custGeom>
            <a:avLst/>
            <a:gdLst/>
            <a:ahLst/>
            <a:cxnLst/>
            <a:rect l="l" t="t" r="r" b="b"/>
            <a:pathLst>
              <a:path w="619853" h="519722">
                <a:moveTo>
                  <a:pt x="0" y="0"/>
                </a:moveTo>
                <a:lnTo>
                  <a:pt x="619852" y="0"/>
                </a:lnTo>
                <a:lnTo>
                  <a:pt x="619852" y="519722"/>
                </a:lnTo>
                <a:lnTo>
                  <a:pt x="0" y="5197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721518" y="1050572"/>
            <a:ext cx="2281415" cy="406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24"/>
              </a:lnSpc>
              <a:spcBef>
                <a:spcPct val="0"/>
              </a:spcBef>
            </a:pPr>
            <a:r>
              <a:rPr lang="en-US" sz="2302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TEALEARN</a:t>
            </a:r>
          </a:p>
        </p:txBody>
      </p:sp>
      <p:sp>
        <p:nvSpPr>
          <p:cNvPr id="11" name="Fluxograma: Conector 10"/>
          <p:cNvSpPr/>
          <p:nvPr/>
        </p:nvSpPr>
        <p:spPr>
          <a:xfrm>
            <a:off x="1025480" y="5976469"/>
            <a:ext cx="1437632" cy="1333500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Fluxograma: Conector 11"/>
          <p:cNvSpPr/>
          <p:nvPr/>
        </p:nvSpPr>
        <p:spPr>
          <a:xfrm>
            <a:off x="1025480" y="7959914"/>
            <a:ext cx="1437632" cy="1333500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Fluxograma: Conector 12"/>
          <p:cNvSpPr/>
          <p:nvPr/>
        </p:nvSpPr>
        <p:spPr>
          <a:xfrm>
            <a:off x="5023073" y="7960730"/>
            <a:ext cx="1437632" cy="1333500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Fluxograma: Conector 13"/>
          <p:cNvSpPr/>
          <p:nvPr/>
        </p:nvSpPr>
        <p:spPr>
          <a:xfrm>
            <a:off x="5029200" y="5977285"/>
            <a:ext cx="1437632" cy="1333500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2666999" y="4446516"/>
            <a:ext cx="17526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smtClean="0">
                <a:solidFill>
                  <a:schemeClr val="bg1"/>
                </a:solidFill>
              </a:rPr>
              <a:t>Davi Tavares</a:t>
            </a:r>
            <a:endParaRPr lang="pt-BR" sz="2400" dirty="0">
              <a:solidFill>
                <a:schemeClr val="bg1"/>
              </a:solidFill>
            </a:endParaRPr>
          </a:p>
        </p:txBody>
      </p:sp>
      <p:sp>
        <p:nvSpPr>
          <p:cNvPr id="17" name="CaixaDeTexto 16"/>
          <p:cNvSpPr txBox="1"/>
          <p:nvPr/>
        </p:nvSpPr>
        <p:spPr>
          <a:xfrm>
            <a:off x="2666998" y="6341086"/>
            <a:ext cx="16002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smtClean="0">
                <a:solidFill>
                  <a:schemeClr val="bg1"/>
                </a:solidFill>
              </a:rPr>
              <a:t>João Vitor</a:t>
            </a:r>
            <a:endParaRPr lang="pt-BR" sz="2400" dirty="0">
              <a:solidFill>
                <a:schemeClr val="bg1"/>
              </a:solidFill>
            </a:endParaRPr>
          </a:p>
        </p:txBody>
      </p:sp>
      <p:sp>
        <p:nvSpPr>
          <p:cNvPr id="18" name="CaixaDeTexto 17"/>
          <p:cNvSpPr txBox="1"/>
          <p:nvPr/>
        </p:nvSpPr>
        <p:spPr>
          <a:xfrm>
            <a:off x="2666997" y="8395831"/>
            <a:ext cx="17526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smtClean="0">
                <a:solidFill>
                  <a:schemeClr val="bg1"/>
                </a:solidFill>
              </a:rPr>
              <a:t>Felipe Rocha</a:t>
            </a:r>
            <a:endParaRPr lang="pt-BR" sz="2400" dirty="0">
              <a:solidFill>
                <a:schemeClr val="bg1"/>
              </a:solidFill>
            </a:endParaRPr>
          </a:p>
        </p:txBody>
      </p:sp>
      <p:sp>
        <p:nvSpPr>
          <p:cNvPr id="19" name="CaixaDeTexto 18"/>
          <p:cNvSpPr txBox="1"/>
          <p:nvPr/>
        </p:nvSpPr>
        <p:spPr>
          <a:xfrm>
            <a:off x="6589703" y="4446516"/>
            <a:ext cx="2285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smtClean="0">
                <a:solidFill>
                  <a:schemeClr val="bg1"/>
                </a:solidFill>
              </a:rPr>
              <a:t>Leonardo </a:t>
            </a:r>
            <a:r>
              <a:rPr lang="pt-BR" sz="2400" dirty="0" err="1" smtClean="0">
                <a:solidFill>
                  <a:schemeClr val="bg1"/>
                </a:solidFill>
              </a:rPr>
              <a:t>Buso</a:t>
            </a:r>
            <a:endParaRPr lang="pt-BR" sz="2400" dirty="0">
              <a:solidFill>
                <a:schemeClr val="bg1"/>
              </a:solidFill>
            </a:endParaRPr>
          </a:p>
        </p:txBody>
      </p:sp>
      <p:sp>
        <p:nvSpPr>
          <p:cNvPr id="20" name="CaixaDeTexto 19"/>
          <p:cNvSpPr txBox="1"/>
          <p:nvPr/>
        </p:nvSpPr>
        <p:spPr>
          <a:xfrm>
            <a:off x="6569019" y="6341085"/>
            <a:ext cx="20415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smtClean="0">
                <a:solidFill>
                  <a:schemeClr val="bg1"/>
                </a:solidFill>
              </a:rPr>
              <a:t>Fernando </a:t>
            </a:r>
            <a:r>
              <a:rPr lang="pt-BR" sz="2400" dirty="0" err="1" smtClean="0">
                <a:solidFill>
                  <a:schemeClr val="bg1"/>
                </a:solidFill>
              </a:rPr>
              <a:t>Fiani</a:t>
            </a:r>
            <a:endParaRPr lang="pt-BR" sz="2400" dirty="0">
              <a:solidFill>
                <a:schemeClr val="bg1"/>
              </a:solidFill>
            </a:endParaRPr>
          </a:p>
        </p:txBody>
      </p:sp>
      <p:sp>
        <p:nvSpPr>
          <p:cNvPr id="21" name="CaixaDeTexto 20"/>
          <p:cNvSpPr txBox="1"/>
          <p:nvPr/>
        </p:nvSpPr>
        <p:spPr>
          <a:xfrm>
            <a:off x="6569018" y="8395830"/>
            <a:ext cx="20415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smtClean="0">
                <a:solidFill>
                  <a:schemeClr val="bg1"/>
                </a:solidFill>
              </a:rPr>
              <a:t>Bryan Diego</a:t>
            </a:r>
            <a:endParaRPr lang="pt-BR" sz="2400" dirty="0">
              <a:solidFill>
                <a:schemeClr val="bg1"/>
              </a:solidFill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787" y="3838582"/>
            <a:ext cx="1729018" cy="1673065"/>
          </a:xfrm>
          <a:prstGeom prst="ellipse">
            <a:avLst/>
          </a:prstGeom>
          <a:ln w="3175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Imagem 6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94" t="13257" b="26136"/>
          <a:stretch/>
        </p:blipFill>
        <p:spPr>
          <a:xfrm>
            <a:off x="4855117" y="3808593"/>
            <a:ext cx="1719122" cy="1733041"/>
          </a:xfrm>
          <a:prstGeom prst="ellipse">
            <a:avLst/>
          </a:prstGeom>
          <a:ln w="3175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575" y="5762274"/>
            <a:ext cx="1747329" cy="1761890"/>
          </a:xfrm>
          <a:prstGeom prst="ellipse">
            <a:avLst/>
          </a:prstGeom>
          <a:ln w="3175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9" name="Imagem 8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32" t="35227"/>
          <a:stretch/>
        </p:blipFill>
        <p:spPr>
          <a:xfrm>
            <a:off x="4807646" y="5785401"/>
            <a:ext cx="1782057" cy="1724084"/>
          </a:xfrm>
          <a:prstGeom prst="ellipse">
            <a:avLst/>
          </a:prstGeom>
          <a:ln w="3175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7" name="Imagem 26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95" r="1726" b="24620"/>
          <a:stretch/>
        </p:blipFill>
        <p:spPr>
          <a:xfrm>
            <a:off x="868575" y="7774791"/>
            <a:ext cx="1756148" cy="1766800"/>
          </a:xfrm>
          <a:prstGeom prst="ellipse">
            <a:avLst/>
          </a:prstGeom>
          <a:ln w="3175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8" name="Imagem 27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85" b="19319"/>
          <a:stretch/>
        </p:blipFill>
        <p:spPr>
          <a:xfrm>
            <a:off x="4855117" y="7774270"/>
            <a:ext cx="1713901" cy="1704784"/>
          </a:xfrm>
          <a:prstGeom prst="ellipse">
            <a:avLst/>
          </a:prstGeom>
          <a:ln w="3175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69890868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259300" y="479195"/>
            <a:ext cx="422866" cy="244494"/>
          </a:xfrm>
          <a:custGeom>
            <a:avLst/>
            <a:gdLst/>
            <a:ahLst/>
            <a:cxnLst/>
            <a:rect l="l" t="t" r="r" b="b"/>
            <a:pathLst>
              <a:path w="422866" h="244494">
                <a:moveTo>
                  <a:pt x="0" y="0"/>
                </a:moveTo>
                <a:lnTo>
                  <a:pt x="422866" y="0"/>
                </a:lnTo>
                <a:lnTo>
                  <a:pt x="422866" y="244493"/>
                </a:lnTo>
                <a:lnTo>
                  <a:pt x="0" y="2444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73429" y="479195"/>
            <a:ext cx="274427" cy="260019"/>
          </a:xfrm>
          <a:custGeom>
            <a:avLst/>
            <a:gdLst/>
            <a:ahLst/>
            <a:cxnLst/>
            <a:rect l="l" t="t" r="r" b="b"/>
            <a:pathLst>
              <a:path w="274427" h="260019">
                <a:moveTo>
                  <a:pt x="0" y="0"/>
                </a:moveTo>
                <a:lnTo>
                  <a:pt x="274427" y="0"/>
                </a:lnTo>
                <a:lnTo>
                  <a:pt x="274427" y="260019"/>
                </a:lnTo>
                <a:lnTo>
                  <a:pt x="0" y="2600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8063054" y="8723599"/>
            <a:ext cx="224946" cy="534701"/>
            <a:chOff x="0" y="0"/>
            <a:chExt cx="59245" cy="14082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9245" cy="140827"/>
            </a:xfrm>
            <a:custGeom>
              <a:avLst/>
              <a:gdLst/>
              <a:ahLst/>
              <a:cxnLst/>
              <a:rect l="l" t="t" r="r" b="b"/>
              <a:pathLst>
                <a:path w="59245" h="140827">
                  <a:moveTo>
                    <a:pt x="0" y="0"/>
                  </a:moveTo>
                  <a:lnTo>
                    <a:pt x="59245" y="0"/>
                  </a:lnTo>
                  <a:lnTo>
                    <a:pt x="59245" y="140827"/>
                  </a:lnTo>
                  <a:lnTo>
                    <a:pt x="0" y="140827"/>
                  </a:lnTo>
                  <a:close/>
                </a:path>
              </a:pathLst>
            </a:custGeom>
            <a:solidFill>
              <a:srgbClr val="2F3C81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59245" cy="1979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6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96258" y="489099"/>
            <a:ext cx="1385913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1F2020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TEALEARN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8063054" y="8188899"/>
            <a:ext cx="224946" cy="534701"/>
            <a:chOff x="0" y="0"/>
            <a:chExt cx="59245" cy="14082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9245" cy="140827"/>
            </a:xfrm>
            <a:custGeom>
              <a:avLst/>
              <a:gdLst/>
              <a:ahLst/>
              <a:cxnLst/>
              <a:rect l="l" t="t" r="r" b="b"/>
              <a:pathLst>
                <a:path w="59245" h="140827">
                  <a:moveTo>
                    <a:pt x="0" y="0"/>
                  </a:moveTo>
                  <a:lnTo>
                    <a:pt x="59245" y="0"/>
                  </a:lnTo>
                  <a:lnTo>
                    <a:pt x="59245" y="140827"/>
                  </a:lnTo>
                  <a:lnTo>
                    <a:pt x="0" y="140827"/>
                  </a:lnTo>
                  <a:close/>
                </a:path>
              </a:pathLst>
            </a:custGeom>
            <a:solidFill>
              <a:srgbClr val="E1E4F0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59245" cy="1979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6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201640" y="2400300"/>
            <a:ext cx="5086360" cy="7433266"/>
            <a:chOff x="0" y="0"/>
            <a:chExt cx="6417582" cy="10507437"/>
          </a:xfrm>
        </p:grpSpPr>
        <p:pic>
          <p:nvPicPr>
            <p:cNvPr id="12" name="Picture 12"/>
            <p:cNvPicPr>
              <a:picLocks noChangeAspect="1"/>
            </p:cNvPicPr>
            <p:nvPr/>
          </p:nvPicPr>
          <p:blipFill>
            <a:blip r:embed="rId6"/>
            <a:srcRect l="243" r="243"/>
            <a:stretch>
              <a:fillRect/>
            </a:stretch>
          </p:blipFill>
          <p:spPr>
            <a:xfrm>
              <a:off x="0" y="0"/>
              <a:ext cx="6417582" cy="10507437"/>
            </a:xfrm>
            <a:prstGeom prst="rect">
              <a:avLst/>
            </a:prstGeom>
          </p:spPr>
        </p:pic>
      </p:grpSp>
      <p:grpSp>
        <p:nvGrpSpPr>
          <p:cNvPr id="13" name="Group 13"/>
          <p:cNvGrpSpPr/>
          <p:nvPr/>
        </p:nvGrpSpPr>
        <p:grpSpPr>
          <a:xfrm>
            <a:off x="410308" y="952500"/>
            <a:ext cx="4317028" cy="4803971"/>
            <a:chOff x="0" y="0"/>
            <a:chExt cx="6417582" cy="10507437"/>
          </a:xfrm>
        </p:grpSpPr>
        <p:pic>
          <p:nvPicPr>
            <p:cNvPr id="14" name="Picture 14"/>
            <p:cNvPicPr>
              <a:picLocks noChangeAspect="1"/>
            </p:cNvPicPr>
            <p:nvPr/>
          </p:nvPicPr>
          <p:blipFill>
            <a:blip r:embed="rId7"/>
            <a:srcRect l="243" r="243"/>
            <a:stretch>
              <a:fillRect/>
            </a:stretch>
          </p:blipFill>
          <p:spPr>
            <a:xfrm>
              <a:off x="0" y="0"/>
              <a:ext cx="6417582" cy="10507437"/>
            </a:xfrm>
            <a:prstGeom prst="rect">
              <a:avLst/>
            </a:prstGeom>
          </p:spPr>
        </p:pic>
      </p:grpSp>
      <p:grpSp>
        <p:nvGrpSpPr>
          <p:cNvPr id="15" name="Group 15"/>
          <p:cNvGrpSpPr/>
          <p:nvPr/>
        </p:nvGrpSpPr>
        <p:grpSpPr>
          <a:xfrm>
            <a:off x="12046190" y="8347754"/>
            <a:ext cx="6241810" cy="910546"/>
            <a:chOff x="0" y="0"/>
            <a:chExt cx="2564842" cy="33182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564842" cy="331826"/>
            </a:xfrm>
            <a:custGeom>
              <a:avLst/>
              <a:gdLst/>
              <a:ahLst/>
              <a:cxnLst/>
              <a:rect l="l" t="t" r="r" b="b"/>
              <a:pathLst>
                <a:path w="2564842" h="331826">
                  <a:moveTo>
                    <a:pt x="0" y="0"/>
                  </a:moveTo>
                  <a:lnTo>
                    <a:pt x="2564842" y="0"/>
                  </a:lnTo>
                  <a:lnTo>
                    <a:pt x="2564842" y="331826"/>
                  </a:lnTo>
                  <a:lnTo>
                    <a:pt x="0" y="331826"/>
                  </a:lnTo>
                  <a:close/>
                </a:path>
              </a:pathLst>
            </a:custGeom>
            <a:solidFill>
              <a:srgbClr val="2F3C81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2564842" cy="3889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6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6805244" y="2400300"/>
            <a:ext cx="4677513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760"/>
              </a:lnSpc>
            </a:pPr>
            <a:r>
              <a:rPr lang="en-US" sz="3200" b="1" dirty="0" smtClean="0">
                <a:solidFill>
                  <a:srgbClr val="2F3C81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TEA NA EDUCAÇÃO</a:t>
            </a:r>
            <a:endParaRPr lang="en-US" sz="3200" b="1" dirty="0">
              <a:solidFill>
                <a:srgbClr val="2F3C81"/>
              </a:solidFill>
              <a:latin typeface="TT Supermolot Neue Expanded Bold"/>
              <a:ea typeface="TT Supermolot Neue Expanded Bold"/>
              <a:cs typeface="TT Supermolot Neue Expanded Bold"/>
              <a:sym typeface="TT Supermolot Neue Expanded Bold"/>
            </a:endParaRPr>
          </a:p>
        </p:txBody>
      </p:sp>
      <p:sp>
        <p:nvSpPr>
          <p:cNvPr id="24" name="Retângulo 23"/>
          <p:cNvSpPr/>
          <p:nvPr/>
        </p:nvSpPr>
        <p:spPr>
          <a:xfrm>
            <a:off x="5029200" y="4092373"/>
            <a:ext cx="8763000" cy="93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ts val="2239"/>
              </a:lnSpc>
              <a:spcBef>
                <a:spcPct val="0"/>
              </a:spcBef>
            </a:pPr>
            <a:r>
              <a:rPr lang="en-US" sz="2000" b="1" dirty="0" err="1" smtClean="0">
                <a:solidFill>
                  <a:srgbClr val="1F2020"/>
                </a:solidFill>
                <a:latin typeface="TT Supermolot Neue Expanded" panose="020B0604020202020204" charset="0"/>
                <a:ea typeface="Open Sans"/>
                <a:cs typeface="Open Sans"/>
                <a:sym typeface="Open Sans"/>
              </a:rPr>
              <a:t>TeaLearn</a:t>
            </a:r>
            <a:r>
              <a:rPr lang="en-US" sz="2000" b="1" dirty="0" smtClean="0">
                <a:solidFill>
                  <a:srgbClr val="1F2020"/>
                </a:solidFill>
                <a:latin typeface="TT Supermolot Neue Expanded" panose="020B0604020202020204" charset="0"/>
                <a:ea typeface="Open Sans"/>
                <a:cs typeface="Open Sans"/>
                <a:sym typeface="Open Sans"/>
              </a:rPr>
              <a:t> </a:t>
            </a:r>
            <a:r>
              <a:rPr lang="en-US" sz="2000" b="1" dirty="0">
                <a:solidFill>
                  <a:srgbClr val="1F2020"/>
                </a:solidFill>
                <a:latin typeface="TT Supermolot Neue Expanded" panose="020B0604020202020204" charset="0"/>
                <a:ea typeface="Open Sans"/>
                <a:cs typeface="Open Sans"/>
                <a:sym typeface="Open Sans"/>
              </a:rPr>
              <a:t>é </a:t>
            </a:r>
            <a:r>
              <a:rPr lang="en-US" sz="2000" b="1" dirty="0" err="1">
                <a:solidFill>
                  <a:srgbClr val="1F2020"/>
                </a:solidFill>
                <a:latin typeface="TT Supermolot Neue Expanded" panose="020B0604020202020204" charset="0"/>
                <a:ea typeface="Open Sans"/>
                <a:cs typeface="Open Sans"/>
                <a:sym typeface="Open Sans"/>
              </a:rPr>
              <a:t>uma</a:t>
            </a:r>
            <a:r>
              <a:rPr lang="en-US" sz="2000" b="1" dirty="0">
                <a:solidFill>
                  <a:srgbClr val="1F2020"/>
                </a:solidFill>
                <a:latin typeface="TT Supermolot Neue Expanded" panose="020B0604020202020204" charset="0"/>
                <a:ea typeface="Open Sans"/>
                <a:cs typeface="Open Sans"/>
                <a:sym typeface="Open Sans"/>
              </a:rPr>
              <a:t> </a:t>
            </a:r>
            <a:r>
              <a:rPr lang="en-US" sz="2000" b="1" dirty="0" err="1">
                <a:solidFill>
                  <a:srgbClr val="1F2020"/>
                </a:solidFill>
                <a:latin typeface="TT Supermolot Neue Expanded" panose="020B0604020202020204" charset="0"/>
                <a:ea typeface="Open Sans"/>
                <a:cs typeface="Open Sans"/>
                <a:sym typeface="Open Sans"/>
              </a:rPr>
              <a:t>plataforma</a:t>
            </a:r>
            <a:r>
              <a:rPr lang="en-US" sz="2000" b="1" dirty="0">
                <a:solidFill>
                  <a:srgbClr val="1F2020"/>
                </a:solidFill>
                <a:latin typeface="TT Supermolot Neue Expanded" panose="020B0604020202020204" charset="0"/>
                <a:ea typeface="Open Sans"/>
                <a:cs typeface="Open Sans"/>
                <a:sym typeface="Open Sans"/>
              </a:rPr>
              <a:t> </a:t>
            </a:r>
            <a:r>
              <a:rPr lang="en-US" sz="2000" b="1" dirty="0" smtClean="0">
                <a:solidFill>
                  <a:srgbClr val="1F2020"/>
                </a:solidFill>
                <a:latin typeface="TT Supermolot Neue Expanded" panose="020B0604020202020204" charset="0"/>
                <a:ea typeface="Open Sans"/>
                <a:cs typeface="Open Sans"/>
                <a:sym typeface="Open Sans"/>
              </a:rPr>
              <a:t>que </a:t>
            </a:r>
            <a:r>
              <a:rPr lang="en-US" sz="2000" b="1" dirty="0" err="1">
                <a:solidFill>
                  <a:srgbClr val="1F2020"/>
                </a:solidFill>
                <a:latin typeface="TT Supermolot Neue Expanded" panose="020B0604020202020204" charset="0"/>
                <a:ea typeface="Open Sans"/>
                <a:cs typeface="Open Sans"/>
                <a:sym typeface="Open Sans"/>
              </a:rPr>
              <a:t>auxilia</a:t>
            </a:r>
            <a:r>
              <a:rPr lang="en-US" sz="2000" b="1" dirty="0">
                <a:solidFill>
                  <a:srgbClr val="1F2020"/>
                </a:solidFill>
                <a:latin typeface="TT Supermolot Neue Expanded" panose="020B0604020202020204" charset="0"/>
                <a:ea typeface="Open Sans"/>
                <a:cs typeface="Open Sans"/>
                <a:sym typeface="Open Sans"/>
              </a:rPr>
              <a:t> </a:t>
            </a:r>
            <a:r>
              <a:rPr lang="en-US" sz="2000" b="1" dirty="0" err="1" smtClean="0">
                <a:solidFill>
                  <a:srgbClr val="1F2020"/>
                </a:solidFill>
                <a:latin typeface="TT Supermolot Neue Expanded" panose="020B0604020202020204" charset="0"/>
                <a:ea typeface="Open Sans"/>
                <a:cs typeface="Open Sans"/>
                <a:sym typeface="Open Sans"/>
              </a:rPr>
              <a:t>professores</a:t>
            </a:r>
            <a:r>
              <a:rPr lang="en-US" sz="2000" b="1" dirty="0" smtClean="0">
                <a:solidFill>
                  <a:srgbClr val="1F2020"/>
                </a:solidFill>
                <a:latin typeface="TT Supermolot Neue Expanded" panose="020B0604020202020204" charset="0"/>
                <a:ea typeface="Open Sans"/>
                <a:cs typeface="Open Sans"/>
                <a:sym typeface="Open Sans"/>
              </a:rPr>
              <a:t> do </a:t>
            </a:r>
            <a:r>
              <a:rPr lang="en-US" sz="2000" b="1" dirty="0" err="1" smtClean="0">
                <a:solidFill>
                  <a:srgbClr val="1F2020"/>
                </a:solidFill>
                <a:latin typeface="TT Supermolot Neue Expanded" panose="020B0604020202020204" charset="0"/>
                <a:ea typeface="Open Sans"/>
                <a:cs typeface="Open Sans"/>
                <a:sym typeface="Open Sans"/>
              </a:rPr>
              <a:t>ensino</a:t>
            </a:r>
            <a:r>
              <a:rPr lang="en-US" sz="2000" b="1" dirty="0" smtClean="0">
                <a:solidFill>
                  <a:srgbClr val="1F2020"/>
                </a:solidFill>
                <a:latin typeface="TT Supermolot Neue Expanded" panose="020B0604020202020204" charset="0"/>
                <a:ea typeface="Open Sans"/>
                <a:cs typeface="Open Sans"/>
                <a:sym typeface="Open Sans"/>
              </a:rPr>
              <a:t> </a:t>
            </a:r>
            <a:r>
              <a:rPr lang="en-US" sz="2000" b="1" dirty="0" err="1" smtClean="0">
                <a:solidFill>
                  <a:srgbClr val="1F2020"/>
                </a:solidFill>
                <a:latin typeface="TT Supermolot Neue Expanded" panose="020B0604020202020204" charset="0"/>
                <a:ea typeface="Open Sans"/>
                <a:cs typeface="Open Sans"/>
                <a:sym typeface="Open Sans"/>
              </a:rPr>
              <a:t>médio</a:t>
            </a:r>
            <a:r>
              <a:rPr lang="en-US" sz="2000" b="1" dirty="0" smtClean="0">
                <a:solidFill>
                  <a:srgbClr val="1F2020"/>
                </a:solidFill>
                <a:latin typeface="TT Supermolot Neue Expanded" panose="020B0604020202020204" charset="0"/>
                <a:ea typeface="Open Sans"/>
                <a:cs typeface="Open Sans"/>
                <a:sym typeface="Open Sans"/>
              </a:rPr>
              <a:t> da ETEC Professor Camargo </a:t>
            </a:r>
            <a:r>
              <a:rPr lang="en-US" sz="2000" b="1" dirty="0" err="1" smtClean="0">
                <a:solidFill>
                  <a:srgbClr val="1F2020"/>
                </a:solidFill>
                <a:latin typeface="TT Supermolot Neue Expanded" panose="020B0604020202020204" charset="0"/>
                <a:ea typeface="Open Sans"/>
                <a:cs typeface="Open Sans"/>
                <a:sym typeface="Open Sans"/>
              </a:rPr>
              <a:t>Aranha</a:t>
            </a:r>
            <a:r>
              <a:rPr lang="en-US" sz="2000" b="1" dirty="0" smtClean="0">
                <a:solidFill>
                  <a:srgbClr val="1F2020"/>
                </a:solidFill>
                <a:latin typeface="TT Supermolot Neue Expanded" panose="020B0604020202020204" charset="0"/>
                <a:ea typeface="Open Sans"/>
                <a:cs typeface="Open Sans"/>
                <a:sym typeface="Open Sans"/>
              </a:rPr>
              <a:t> </a:t>
            </a:r>
            <a:r>
              <a:rPr lang="en-US" sz="2000" b="1" dirty="0" err="1">
                <a:solidFill>
                  <a:srgbClr val="1F2020"/>
                </a:solidFill>
                <a:latin typeface="TT Supermolot Neue Expanded" panose="020B0604020202020204" charset="0"/>
                <a:ea typeface="Open Sans"/>
                <a:cs typeface="Open Sans"/>
                <a:sym typeface="Open Sans"/>
              </a:rPr>
              <a:t>na</a:t>
            </a:r>
            <a:r>
              <a:rPr lang="en-US" sz="2000" b="1" dirty="0">
                <a:solidFill>
                  <a:srgbClr val="1F2020"/>
                </a:solidFill>
                <a:latin typeface="TT Supermolot Neue Expanded" panose="020B0604020202020204" charset="0"/>
                <a:ea typeface="Open Sans"/>
                <a:cs typeface="Open Sans"/>
                <a:sym typeface="Open Sans"/>
              </a:rPr>
              <a:t> </a:t>
            </a:r>
            <a:r>
              <a:rPr lang="en-US" sz="2000" b="1" dirty="0" err="1">
                <a:solidFill>
                  <a:srgbClr val="1F2020"/>
                </a:solidFill>
                <a:latin typeface="TT Supermolot Neue Expanded" panose="020B0604020202020204" charset="0"/>
                <a:ea typeface="Open Sans"/>
                <a:cs typeface="Open Sans"/>
                <a:sym typeface="Open Sans"/>
              </a:rPr>
              <a:t>adaptação</a:t>
            </a:r>
            <a:r>
              <a:rPr lang="en-US" sz="2000" b="1" dirty="0">
                <a:solidFill>
                  <a:srgbClr val="1F2020"/>
                </a:solidFill>
                <a:latin typeface="TT Supermolot Neue Expanded" panose="020B0604020202020204" charset="0"/>
                <a:ea typeface="Open Sans"/>
                <a:cs typeface="Open Sans"/>
                <a:sym typeface="Open Sans"/>
              </a:rPr>
              <a:t> de </a:t>
            </a:r>
            <a:r>
              <a:rPr lang="en-US" sz="2000" b="1" dirty="0" err="1">
                <a:solidFill>
                  <a:srgbClr val="1F2020"/>
                </a:solidFill>
                <a:latin typeface="TT Supermolot Neue Expanded" panose="020B0604020202020204" charset="0"/>
                <a:ea typeface="Open Sans"/>
                <a:cs typeface="Open Sans"/>
                <a:sym typeface="Open Sans"/>
              </a:rPr>
              <a:t>materiais</a:t>
            </a:r>
            <a:r>
              <a:rPr lang="en-US" sz="2000" b="1" dirty="0">
                <a:solidFill>
                  <a:srgbClr val="1F2020"/>
                </a:solidFill>
                <a:latin typeface="TT Supermolot Neue Expanded" panose="020B0604020202020204" charset="0"/>
                <a:ea typeface="Open Sans"/>
                <a:cs typeface="Open Sans"/>
                <a:sym typeface="Open Sans"/>
              </a:rPr>
              <a:t> </a:t>
            </a:r>
            <a:r>
              <a:rPr lang="en-US" sz="2000" b="1" dirty="0" err="1">
                <a:solidFill>
                  <a:srgbClr val="1F2020"/>
                </a:solidFill>
                <a:latin typeface="TT Supermolot Neue Expanded" panose="020B0604020202020204" charset="0"/>
                <a:ea typeface="Open Sans"/>
                <a:cs typeface="Open Sans"/>
                <a:sym typeface="Open Sans"/>
              </a:rPr>
              <a:t>didáticos</a:t>
            </a:r>
            <a:r>
              <a:rPr lang="en-US" sz="2000" b="1" dirty="0">
                <a:solidFill>
                  <a:srgbClr val="1F2020"/>
                </a:solidFill>
                <a:latin typeface="TT Supermolot Neue Expanded" panose="020B0604020202020204" charset="0"/>
                <a:ea typeface="Open Sans"/>
                <a:cs typeface="Open Sans"/>
                <a:sym typeface="Open Sans"/>
              </a:rPr>
              <a:t> </a:t>
            </a:r>
            <a:r>
              <a:rPr lang="en-US" sz="2000" b="1" dirty="0" err="1">
                <a:solidFill>
                  <a:srgbClr val="1F2020"/>
                </a:solidFill>
                <a:latin typeface="TT Supermolot Neue Expanded" panose="020B0604020202020204" charset="0"/>
                <a:ea typeface="Open Sans"/>
                <a:cs typeface="Open Sans"/>
                <a:sym typeface="Open Sans"/>
              </a:rPr>
              <a:t>utilizando</a:t>
            </a:r>
            <a:r>
              <a:rPr lang="en-US" sz="2000" b="1" dirty="0">
                <a:solidFill>
                  <a:srgbClr val="1F2020"/>
                </a:solidFill>
                <a:latin typeface="TT Supermolot Neue Expanded" panose="020B0604020202020204" charset="0"/>
                <a:ea typeface="Open Sans"/>
                <a:cs typeface="Open Sans"/>
                <a:sym typeface="Open Sans"/>
              </a:rPr>
              <a:t> </a:t>
            </a:r>
            <a:r>
              <a:rPr lang="en-US" sz="2000" b="1" dirty="0" err="1">
                <a:solidFill>
                  <a:srgbClr val="1F2020"/>
                </a:solidFill>
                <a:latin typeface="TT Supermolot Neue Expanded" panose="020B0604020202020204" charset="0"/>
                <a:ea typeface="Open Sans"/>
                <a:cs typeface="Open Sans"/>
                <a:sym typeface="Open Sans"/>
              </a:rPr>
              <a:t>Inteligência</a:t>
            </a:r>
            <a:r>
              <a:rPr lang="en-US" sz="2000" b="1" dirty="0">
                <a:solidFill>
                  <a:srgbClr val="1F2020"/>
                </a:solidFill>
                <a:latin typeface="TT Supermolot Neue Expanded" panose="020B0604020202020204" charset="0"/>
                <a:ea typeface="Open Sans"/>
                <a:cs typeface="Open Sans"/>
                <a:sym typeface="Open Sans"/>
              </a:rPr>
              <a:t> Artificial.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259300" y="479195"/>
            <a:ext cx="422866" cy="244494"/>
          </a:xfrm>
          <a:custGeom>
            <a:avLst/>
            <a:gdLst/>
            <a:ahLst/>
            <a:cxnLst/>
            <a:rect l="l" t="t" r="r" b="b"/>
            <a:pathLst>
              <a:path w="422866" h="244494">
                <a:moveTo>
                  <a:pt x="0" y="0"/>
                </a:moveTo>
                <a:lnTo>
                  <a:pt x="422866" y="0"/>
                </a:lnTo>
                <a:lnTo>
                  <a:pt x="422866" y="244493"/>
                </a:lnTo>
                <a:lnTo>
                  <a:pt x="0" y="2444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73429" y="479195"/>
            <a:ext cx="274427" cy="260019"/>
          </a:xfrm>
          <a:custGeom>
            <a:avLst/>
            <a:gdLst/>
            <a:ahLst/>
            <a:cxnLst/>
            <a:rect l="l" t="t" r="r" b="b"/>
            <a:pathLst>
              <a:path w="274427" h="260019">
                <a:moveTo>
                  <a:pt x="0" y="0"/>
                </a:moveTo>
                <a:lnTo>
                  <a:pt x="274427" y="0"/>
                </a:lnTo>
                <a:lnTo>
                  <a:pt x="274427" y="260019"/>
                </a:lnTo>
                <a:lnTo>
                  <a:pt x="0" y="2600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8063054" y="8723599"/>
            <a:ext cx="224946" cy="534701"/>
            <a:chOff x="0" y="0"/>
            <a:chExt cx="59245" cy="14082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9245" cy="140827"/>
            </a:xfrm>
            <a:custGeom>
              <a:avLst/>
              <a:gdLst/>
              <a:ahLst/>
              <a:cxnLst/>
              <a:rect l="l" t="t" r="r" b="b"/>
              <a:pathLst>
                <a:path w="59245" h="140827">
                  <a:moveTo>
                    <a:pt x="0" y="0"/>
                  </a:moveTo>
                  <a:lnTo>
                    <a:pt x="59245" y="0"/>
                  </a:lnTo>
                  <a:lnTo>
                    <a:pt x="59245" y="140827"/>
                  </a:lnTo>
                  <a:lnTo>
                    <a:pt x="0" y="140827"/>
                  </a:lnTo>
                  <a:close/>
                </a:path>
              </a:pathLst>
            </a:custGeom>
            <a:solidFill>
              <a:srgbClr val="2F3C81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59245" cy="1979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6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8063054" y="8188899"/>
            <a:ext cx="224946" cy="534701"/>
            <a:chOff x="0" y="0"/>
            <a:chExt cx="59245" cy="14082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9245" cy="140827"/>
            </a:xfrm>
            <a:custGeom>
              <a:avLst/>
              <a:gdLst/>
              <a:ahLst/>
              <a:cxnLst/>
              <a:rect l="l" t="t" r="r" b="b"/>
              <a:pathLst>
                <a:path w="59245" h="140827">
                  <a:moveTo>
                    <a:pt x="0" y="0"/>
                  </a:moveTo>
                  <a:lnTo>
                    <a:pt x="59245" y="0"/>
                  </a:lnTo>
                  <a:lnTo>
                    <a:pt x="59245" y="140827"/>
                  </a:lnTo>
                  <a:lnTo>
                    <a:pt x="0" y="140827"/>
                  </a:lnTo>
                  <a:close/>
                </a:path>
              </a:pathLst>
            </a:custGeom>
            <a:solidFill>
              <a:srgbClr val="E1E4F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59245" cy="1979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6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191047" y="0"/>
            <a:ext cx="3086100" cy="308610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F3C81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6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0" y="1028700"/>
            <a:ext cx="6174274" cy="4560290"/>
            <a:chOff x="0" y="0"/>
            <a:chExt cx="8232366" cy="6080387"/>
          </a:xfrm>
        </p:grpSpPr>
        <p:pic>
          <p:nvPicPr>
            <p:cNvPr id="14" name="Picture 14"/>
            <p:cNvPicPr>
              <a:picLocks noChangeAspect="1"/>
            </p:cNvPicPr>
            <p:nvPr/>
          </p:nvPicPr>
          <p:blipFill>
            <a:blip r:embed="rId6"/>
            <a:srcRect t="72" b="72"/>
            <a:stretch>
              <a:fillRect/>
            </a:stretch>
          </p:blipFill>
          <p:spPr>
            <a:xfrm>
              <a:off x="0" y="0"/>
              <a:ext cx="8232366" cy="6080387"/>
            </a:xfrm>
            <a:prstGeom prst="rect">
              <a:avLst/>
            </a:prstGeom>
          </p:spPr>
        </p:pic>
      </p:grpSp>
      <p:grpSp>
        <p:nvGrpSpPr>
          <p:cNvPr id="15" name="Group 15"/>
          <p:cNvGrpSpPr/>
          <p:nvPr/>
        </p:nvGrpSpPr>
        <p:grpSpPr>
          <a:xfrm>
            <a:off x="6174274" y="5588990"/>
            <a:ext cx="11085026" cy="3669310"/>
            <a:chOff x="0" y="0"/>
            <a:chExt cx="14780034" cy="4892413"/>
          </a:xfrm>
        </p:grpSpPr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7"/>
            <a:srcRect t="594" b="594"/>
            <a:stretch>
              <a:fillRect/>
            </a:stretch>
          </p:blipFill>
          <p:spPr>
            <a:xfrm>
              <a:off x="0" y="0"/>
              <a:ext cx="14780034" cy="4892413"/>
            </a:xfrm>
            <a:prstGeom prst="rect">
              <a:avLst/>
            </a:prstGeom>
          </p:spPr>
        </p:pic>
      </p:grpSp>
      <p:sp>
        <p:nvSpPr>
          <p:cNvPr id="17" name="TextBox 17"/>
          <p:cNvSpPr txBox="1"/>
          <p:nvPr/>
        </p:nvSpPr>
        <p:spPr>
          <a:xfrm>
            <a:off x="1096258" y="489099"/>
            <a:ext cx="1385913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59"/>
              </a:lnSpc>
              <a:spcBef>
                <a:spcPct val="0"/>
              </a:spcBef>
            </a:pPr>
            <a:r>
              <a:rPr lang="en-US" sz="1399">
                <a:solidFill>
                  <a:srgbClr val="1F2020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TEALEARN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25757" y="6402448"/>
            <a:ext cx="3322761" cy="1786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60"/>
              </a:lnSpc>
            </a:pPr>
            <a:r>
              <a:rPr lang="en-US" sz="2000" b="1" dirty="0">
                <a:solidFill>
                  <a:srgbClr val="2F3C81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CONTEXTUALIZAÇÃO DO </a:t>
            </a:r>
          </a:p>
          <a:p>
            <a:pPr marL="0" lvl="0" indent="0" algn="ctr">
              <a:lnSpc>
                <a:spcPts val="4760"/>
              </a:lnSpc>
            </a:pPr>
            <a:r>
              <a:rPr lang="en-US" sz="2000" b="1" dirty="0">
                <a:solidFill>
                  <a:srgbClr val="2F3C81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PROBLEMA</a:t>
            </a:r>
          </a:p>
        </p:txBody>
      </p:sp>
      <p:grpSp>
        <p:nvGrpSpPr>
          <p:cNvPr id="24" name="Agrupar 23"/>
          <p:cNvGrpSpPr/>
          <p:nvPr/>
        </p:nvGrpSpPr>
        <p:grpSpPr>
          <a:xfrm>
            <a:off x="8323962" y="2246222"/>
            <a:ext cx="5338022" cy="677751"/>
            <a:chOff x="8323962" y="2246222"/>
            <a:chExt cx="5338022" cy="677751"/>
          </a:xfrm>
        </p:grpSpPr>
        <p:grpSp>
          <p:nvGrpSpPr>
            <p:cNvPr id="19" name="Group 19"/>
            <p:cNvGrpSpPr/>
            <p:nvPr/>
          </p:nvGrpSpPr>
          <p:grpSpPr>
            <a:xfrm>
              <a:off x="8323962" y="2246222"/>
              <a:ext cx="677751" cy="677751"/>
              <a:chOff x="0" y="0"/>
              <a:chExt cx="178502" cy="178502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78502" cy="178502"/>
              </a:xfrm>
              <a:custGeom>
                <a:avLst/>
                <a:gdLst/>
                <a:ahLst/>
                <a:cxnLst/>
                <a:rect l="l" t="t" r="r" b="b"/>
                <a:pathLst>
                  <a:path w="178502" h="178502">
                    <a:moveTo>
                      <a:pt x="0" y="0"/>
                    </a:moveTo>
                    <a:lnTo>
                      <a:pt x="178502" y="0"/>
                    </a:lnTo>
                    <a:lnTo>
                      <a:pt x="178502" y="178502"/>
                    </a:lnTo>
                    <a:lnTo>
                      <a:pt x="0" y="178502"/>
                    </a:lnTo>
                    <a:close/>
                  </a:path>
                </a:pathLst>
              </a:custGeom>
              <a:solidFill>
                <a:srgbClr val="2F3C81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178502" cy="21660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9144000" y="2480712"/>
              <a:ext cx="4517984" cy="25648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1959"/>
                </a:lnSpc>
                <a:spcBef>
                  <a:spcPct val="0"/>
                </a:spcBef>
              </a:pPr>
              <a:r>
                <a:rPr lang="en-US" sz="2000" dirty="0" smtClean="0">
                  <a:solidFill>
                    <a:srgbClr val="1F2020"/>
                  </a:solidFill>
                  <a:latin typeface="Open Sans"/>
                  <a:ea typeface="Open Sans"/>
                  <a:cs typeface="Open Sans"/>
                  <a:sym typeface="Open Sans"/>
                </a:rPr>
                <a:t>FALTA DE TREINAMENTO ADEQUADO</a:t>
              </a:r>
              <a:endParaRPr lang="en-US" sz="20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414782" y="2422220"/>
              <a:ext cx="496110" cy="2972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518"/>
                </a:lnSpc>
                <a:spcBef>
                  <a:spcPct val="0"/>
                </a:spcBef>
              </a:pPr>
              <a:r>
                <a:rPr lang="en-US" sz="1798" b="1" dirty="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01</a:t>
              </a:r>
            </a:p>
          </p:txBody>
        </p:sp>
      </p:grpSp>
      <p:grpSp>
        <p:nvGrpSpPr>
          <p:cNvPr id="25" name="Agrupar 24"/>
          <p:cNvGrpSpPr/>
          <p:nvPr/>
        </p:nvGrpSpPr>
        <p:grpSpPr>
          <a:xfrm>
            <a:off x="8323961" y="3314700"/>
            <a:ext cx="5696839" cy="677751"/>
            <a:chOff x="8323961" y="3314700"/>
            <a:chExt cx="5696839" cy="677751"/>
          </a:xfrm>
        </p:grpSpPr>
        <p:grpSp>
          <p:nvGrpSpPr>
            <p:cNvPr id="35" name="Group 19">
              <a:extLst>
                <a:ext uri="{FF2B5EF4-FFF2-40B4-BE49-F238E27FC236}">
                  <a16:creationId xmlns:a16="http://schemas.microsoft.com/office/drawing/2014/main" id="{D45E89BD-676A-4B3E-B76D-2BBF69B6DCA1}"/>
                </a:ext>
              </a:extLst>
            </p:cNvPr>
            <p:cNvGrpSpPr/>
            <p:nvPr/>
          </p:nvGrpSpPr>
          <p:grpSpPr>
            <a:xfrm>
              <a:off x="8323961" y="3314700"/>
              <a:ext cx="677751" cy="677751"/>
              <a:chOff x="0" y="0"/>
              <a:chExt cx="178502" cy="178502"/>
            </a:xfrm>
          </p:grpSpPr>
          <p:sp>
            <p:nvSpPr>
              <p:cNvPr id="36" name="Freeform 20">
                <a:extLst>
                  <a:ext uri="{FF2B5EF4-FFF2-40B4-BE49-F238E27FC236}">
                    <a16:creationId xmlns:a16="http://schemas.microsoft.com/office/drawing/2014/main" id="{7290D0B2-37DE-44A8-A306-674A4019C17C}"/>
                  </a:ext>
                </a:extLst>
              </p:cNvPr>
              <p:cNvSpPr/>
              <p:nvPr/>
            </p:nvSpPr>
            <p:spPr>
              <a:xfrm>
                <a:off x="0" y="0"/>
                <a:ext cx="178502" cy="178502"/>
              </a:xfrm>
              <a:custGeom>
                <a:avLst/>
                <a:gdLst/>
                <a:ahLst/>
                <a:cxnLst/>
                <a:rect l="l" t="t" r="r" b="b"/>
                <a:pathLst>
                  <a:path w="178502" h="178502">
                    <a:moveTo>
                      <a:pt x="0" y="0"/>
                    </a:moveTo>
                    <a:lnTo>
                      <a:pt x="178502" y="0"/>
                    </a:lnTo>
                    <a:lnTo>
                      <a:pt x="178502" y="178502"/>
                    </a:lnTo>
                    <a:lnTo>
                      <a:pt x="0" y="178502"/>
                    </a:lnTo>
                    <a:close/>
                  </a:path>
                </a:pathLst>
              </a:custGeom>
              <a:solidFill>
                <a:srgbClr val="2F3C81"/>
              </a:solidFill>
            </p:spPr>
            <p:txBody>
              <a:bodyPr/>
              <a:lstStyle/>
              <a:p>
                <a:endParaRPr lang="pt-BR" dirty="0"/>
              </a:p>
            </p:txBody>
          </p:sp>
          <p:sp>
            <p:nvSpPr>
              <p:cNvPr id="37" name="TextBox 21">
                <a:extLst>
                  <a:ext uri="{FF2B5EF4-FFF2-40B4-BE49-F238E27FC236}">
                    <a16:creationId xmlns:a16="http://schemas.microsoft.com/office/drawing/2014/main" id="{4F73FBDC-B9D0-4127-8E92-3E0D9F41C60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8502" cy="21660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47" name="TextBox 22">
              <a:extLst>
                <a:ext uri="{FF2B5EF4-FFF2-40B4-BE49-F238E27FC236}">
                  <a16:creationId xmlns:a16="http://schemas.microsoft.com/office/drawing/2014/main" id="{4F0A8497-7659-460F-B1B3-13ABB590387B}"/>
                </a:ext>
              </a:extLst>
            </p:cNvPr>
            <p:cNvSpPr txBox="1"/>
            <p:nvPr/>
          </p:nvSpPr>
          <p:spPr>
            <a:xfrm>
              <a:off x="9143999" y="3534215"/>
              <a:ext cx="4876801" cy="28212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>
                <a:lnSpc>
                  <a:spcPts val="2239"/>
                </a:lnSpc>
              </a:pPr>
              <a:r>
                <a:rPr lang="en-US" sz="2000" dirty="0">
                  <a:solidFill>
                    <a:srgbClr val="1F2020"/>
                  </a:solidFill>
                  <a:latin typeface="Open Sans"/>
                  <a:ea typeface="Open Sans"/>
                  <a:cs typeface="Open Sans"/>
                  <a:sym typeface="Open Sans"/>
                </a:rPr>
                <a:t>AUSÊNCIA DE MATERIAIS INCLUSIVOS</a:t>
              </a:r>
            </a:p>
          </p:txBody>
        </p:sp>
        <p:sp>
          <p:nvSpPr>
            <p:cNvPr id="49" name="Retângulo 48">
              <a:extLst>
                <a:ext uri="{FF2B5EF4-FFF2-40B4-BE49-F238E27FC236}">
                  <a16:creationId xmlns:a16="http://schemas.microsoft.com/office/drawing/2014/main" id="{A0C70FA5-6AB0-45BD-A45D-7D112BFAA50A}"/>
                </a:ext>
              </a:extLst>
            </p:cNvPr>
            <p:cNvSpPr/>
            <p:nvPr/>
          </p:nvSpPr>
          <p:spPr>
            <a:xfrm>
              <a:off x="8431526" y="3488374"/>
              <a:ext cx="447558" cy="36901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798" b="1" dirty="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02</a:t>
              </a:r>
              <a:endParaRPr lang="pt-BR" dirty="0"/>
            </a:p>
          </p:txBody>
        </p:sp>
      </p:grpSp>
      <p:grpSp>
        <p:nvGrpSpPr>
          <p:cNvPr id="26" name="Agrupar 25"/>
          <p:cNvGrpSpPr/>
          <p:nvPr/>
        </p:nvGrpSpPr>
        <p:grpSpPr>
          <a:xfrm>
            <a:off x="8323962" y="4428115"/>
            <a:ext cx="4782438" cy="677751"/>
            <a:chOff x="8323962" y="4428115"/>
            <a:chExt cx="4782438" cy="677751"/>
          </a:xfrm>
        </p:grpSpPr>
        <p:grpSp>
          <p:nvGrpSpPr>
            <p:cNvPr id="32" name="Group 19">
              <a:extLst>
                <a:ext uri="{FF2B5EF4-FFF2-40B4-BE49-F238E27FC236}">
                  <a16:creationId xmlns:a16="http://schemas.microsoft.com/office/drawing/2014/main" id="{B7B59F1D-BD6C-49E8-8111-DC4C2FF6E8CC}"/>
                </a:ext>
              </a:extLst>
            </p:cNvPr>
            <p:cNvGrpSpPr/>
            <p:nvPr/>
          </p:nvGrpSpPr>
          <p:grpSpPr>
            <a:xfrm>
              <a:off x="8323962" y="4428115"/>
              <a:ext cx="677751" cy="677751"/>
              <a:chOff x="0" y="0"/>
              <a:chExt cx="178502" cy="178502"/>
            </a:xfrm>
          </p:grpSpPr>
          <p:sp>
            <p:nvSpPr>
              <p:cNvPr id="33" name="Freeform 20">
                <a:extLst>
                  <a:ext uri="{FF2B5EF4-FFF2-40B4-BE49-F238E27FC236}">
                    <a16:creationId xmlns:a16="http://schemas.microsoft.com/office/drawing/2014/main" id="{C6614935-D79B-4A93-AB1A-B77F3FDCA877}"/>
                  </a:ext>
                </a:extLst>
              </p:cNvPr>
              <p:cNvSpPr/>
              <p:nvPr/>
            </p:nvSpPr>
            <p:spPr>
              <a:xfrm>
                <a:off x="0" y="0"/>
                <a:ext cx="178502" cy="178502"/>
              </a:xfrm>
              <a:custGeom>
                <a:avLst/>
                <a:gdLst/>
                <a:ahLst/>
                <a:cxnLst/>
                <a:rect l="l" t="t" r="r" b="b"/>
                <a:pathLst>
                  <a:path w="178502" h="178502">
                    <a:moveTo>
                      <a:pt x="0" y="0"/>
                    </a:moveTo>
                    <a:lnTo>
                      <a:pt x="178502" y="0"/>
                    </a:lnTo>
                    <a:lnTo>
                      <a:pt x="178502" y="178502"/>
                    </a:lnTo>
                    <a:lnTo>
                      <a:pt x="0" y="178502"/>
                    </a:lnTo>
                    <a:close/>
                  </a:path>
                </a:pathLst>
              </a:custGeom>
              <a:solidFill>
                <a:srgbClr val="2F3C81"/>
              </a:solidFill>
            </p:spPr>
          </p:sp>
          <p:sp>
            <p:nvSpPr>
              <p:cNvPr id="34" name="TextBox 21">
                <a:extLst>
                  <a:ext uri="{FF2B5EF4-FFF2-40B4-BE49-F238E27FC236}">
                    <a16:creationId xmlns:a16="http://schemas.microsoft.com/office/drawing/2014/main" id="{707DE0AA-B35F-4FE3-8857-172F051CB4A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8502" cy="21660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48" name="TextBox 22">
              <a:extLst>
                <a:ext uri="{FF2B5EF4-FFF2-40B4-BE49-F238E27FC236}">
                  <a16:creationId xmlns:a16="http://schemas.microsoft.com/office/drawing/2014/main" id="{26E9C432-DAE1-436C-822B-6BC3EC873520}"/>
                </a:ext>
              </a:extLst>
            </p:cNvPr>
            <p:cNvSpPr txBox="1"/>
            <p:nvPr/>
          </p:nvSpPr>
          <p:spPr>
            <a:xfrm>
              <a:off x="9144000" y="4634585"/>
              <a:ext cx="3962400" cy="28212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>
                <a:lnSpc>
                  <a:spcPts val="2239"/>
                </a:lnSpc>
              </a:pPr>
              <a:r>
                <a:rPr lang="en-US" sz="2000" dirty="0">
                  <a:solidFill>
                    <a:srgbClr val="1F2020"/>
                  </a:solidFill>
                  <a:latin typeface="Open Sans"/>
                  <a:ea typeface="Open Sans"/>
                  <a:cs typeface="Open Sans"/>
                  <a:sym typeface="Open Sans"/>
                </a:rPr>
                <a:t>VAGAS </a:t>
              </a:r>
              <a:r>
                <a:rPr lang="en-US" sz="2000" dirty="0" smtClean="0">
                  <a:solidFill>
                    <a:srgbClr val="1F2020"/>
                  </a:solidFill>
                  <a:latin typeface="Open Sans"/>
                  <a:ea typeface="Open Sans"/>
                  <a:cs typeface="Open Sans"/>
                  <a:sym typeface="Open Sans"/>
                </a:rPr>
                <a:t>AFIRMATIVAS NAS </a:t>
              </a:r>
              <a:r>
                <a:rPr lang="en-US" sz="2000" dirty="0" smtClean="0">
                  <a:solidFill>
                    <a:srgbClr val="1F2020"/>
                  </a:solidFill>
                  <a:latin typeface="Open Sans"/>
                  <a:ea typeface="Open Sans"/>
                  <a:cs typeface="Open Sans"/>
                  <a:sym typeface="Open Sans"/>
                </a:rPr>
                <a:t>ETECS</a:t>
              </a:r>
              <a:endParaRPr lang="en-US" sz="20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0" name="Retângulo 49">
              <a:extLst>
                <a:ext uri="{FF2B5EF4-FFF2-40B4-BE49-F238E27FC236}">
                  <a16:creationId xmlns:a16="http://schemas.microsoft.com/office/drawing/2014/main" id="{80FC1938-41B9-4C84-AFF0-50D1FDCB881B}"/>
                </a:ext>
              </a:extLst>
            </p:cNvPr>
            <p:cNvSpPr/>
            <p:nvPr/>
          </p:nvSpPr>
          <p:spPr>
            <a:xfrm>
              <a:off x="8437975" y="4606214"/>
              <a:ext cx="447558" cy="36901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798" b="1" dirty="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03</a:t>
              </a:r>
              <a:endParaRPr lang="pt-BR" dirty="0"/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259300" y="479195"/>
            <a:ext cx="422866" cy="244494"/>
          </a:xfrm>
          <a:custGeom>
            <a:avLst/>
            <a:gdLst/>
            <a:ahLst/>
            <a:cxnLst/>
            <a:rect l="l" t="t" r="r" b="b"/>
            <a:pathLst>
              <a:path w="422866" h="244494">
                <a:moveTo>
                  <a:pt x="0" y="0"/>
                </a:moveTo>
                <a:lnTo>
                  <a:pt x="422866" y="0"/>
                </a:lnTo>
                <a:lnTo>
                  <a:pt x="422866" y="244493"/>
                </a:lnTo>
                <a:lnTo>
                  <a:pt x="0" y="2444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73429" y="479195"/>
            <a:ext cx="274427" cy="260019"/>
          </a:xfrm>
          <a:custGeom>
            <a:avLst/>
            <a:gdLst/>
            <a:ahLst/>
            <a:cxnLst/>
            <a:rect l="l" t="t" r="r" b="b"/>
            <a:pathLst>
              <a:path w="274427" h="260019">
                <a:moveTo>
                  <a:pt x="0" y="0"/>
                </a:moveTo>
                <a:lnTo>
                  <a:pt x="274427" y="0"/>
                </a:lnTo>
                <a:lnTo>
                  <a:pt x="274427" y="260019"/>
                </a:lnTo>
                <a:lnTo>
                  <a:pt x="0" y="2600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8063054" y="8723599"/>
            <a:ext cx="224946" cy="534701"/>
            <a:chOff x="0" y="0"/>
            <a:chExt cx="59245" cy="14082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9245" cy="140827"/>
            </a:xfrm>
            <a:custGeom>
              <a:avLst/>
              <a:gdLst/>
              <a:ahLst/>
              <a:cxnLst/>
              <a:rect l="l" t="t" r="r" b="b"/>
              <a:pathLst>
                <a:path w="59245" h="140827">
                  <a:moveTo>
                    <a:pt x="0" y="0"/>
                  </a:moveTo>
                  <a:lnTo>
                    <a:pt x="59245" y="0"/>
                  </a:lnTo>
                  <a:lnTo>
                    <a:pt x="59245" y="140827"/>
                  </a:lnTo>
                  <a:lnTo>
                    <a:pt x="0" y="140827"/>
                  </a:lnTo>
                  <a:close/>
                </a:path>
              </a:pathLst>
            </a:custGeom>
            <a:solidFill>
              <a:srgbClr val="2F3C81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59245" cy="1979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6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8063054" y="8188899"/>
            <a:ext cx="224946" cy="534701"/>
            <a:chOff x="0" y="0"/>
            <a:chExt cx="59245" cy="14082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9245" cy="140827"/>
            </a:xfrm>
            <a:custGeom>
              <a:avLst/>
              <a:gdLst/>
              <a:ahLst/>
              <a:cxnLst/>
              <a:rect l="l" t="t" r="r" b="b"/>
              <a:pathLst>
                <a:path w="59245" h="140827">
                  <a:moveTo>
                    <a:pt x="0" y="0"/>
                  </a:moveTo>
                  <a:lnTo>
                    <a:pt x="59245" y="0"/>
                  </a:lnTo>
                  <a:lnTo>
                    <a:pt x="59245" y="140827"/>
                  </a:lnTo>
                  <a:lnTo>
                    <a:pt x="0" y="140827"/>
                  </a:lnTo>
                  <a:close/>
                </a:path>
              </a:pathLst>
            </a:custGeom>
            <a:solidFill>
              <a:srgbClr val="E1E4F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59245" cy="1979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6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096258" y="489099"/>
            <a:ext cx="1385913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59"/>
              </a:lnSpc>
              <a:spcBef>
                <a:spcPct val="0"/>
              </a:spcBef>
            </a:pPr>
            <a:r>
              <a:rPr lang="en-US" sz="1399">
                <a:solidFill>
                  <a:srgbClr val="1F2020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TEALEARN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73429" y="1181100"/>
            <a:ext cx="3322761" cy="860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91"/>
              </a:lnSpc>
            </a:pPr>
            <a:r>
              <a:rPr lang="en-US" sz="2850" b="1" dirty="0">
                <a:solidFill>
                  <a:srgbClr val="2F3C81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CONCEITOS FUNDAMENTAIS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414782" y="2422220"/>
            <a:ext cx="496110" cy="297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8"/>
              </a:lnSpc>
              <a:spcBef>
                <a:spcPct val="0"/>
              </a:spcBef>
            </a:pPr>
            <a:r>
              <a:rPr lang="en-US" sz="1798" b="1" dirty="0" smtClean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</a:t>
            </a:r>
            <a:endParaRPr lang="en-US" sz="1798" b="1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28" name="CaixaDeTexto 27"/>
          <p:cNvSpPr txBox="1"/>
          <p:nvPr/>
        </p:nvSpPr>
        <p:spPr>
          <a:xfrm>
            <a:off x="6628465" y="3645839"/>
            <a:ext cx="406874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400" dirty="0" smtClean="0"/>
              <a:t>O QUE É TEA?</a:t>
            </a:r>
            <a:endParaRPr lang="pt-BR" sz="5400" dirty="0"/>
          </a:p>
        </p:txBody>
      </p:sp>
      <p:grpSp>
        <p:nvGrpSpPr>
          <p:cNvPr id="11" name="Agrupar 10"/>
          <p:cNvGrpSpPr/>
          <p:nvPr/>
        </p:nvGrpSpPr>
        <p:grpSpPr>
          <a:xfrm>
            <a:off x="4208584" y="5565053"/>
            <a:ext cx="1424165" cy="523220"/>
            <a:chOff x="3083455" y="4544080"/>
            <a:chExt cx="1424165" cy="523220"/>
          </a:xfrm>
        </p:grpSpPr>
        <p:sp>
          <p:nvSpPr>
            <p:cNvPr id="19" name="CaixaDeTexto 18"/>
            <p:cNvSpPr txBox="1"/>
            <p:nvPr/>
          </p:nvSpPr>
          <p:spPr>
            <a:xfrm>
              <a:off x="3326206" y="4544080"/>
              <a:ext cx="118141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dirty="0" smtClean="0"/>
                <a:t>Nível 1</a:t>
              </a:r>
              <a:endParaRPr lang="pt-BR" sz="2800" dirty="0"/>
            </a:p>
          </p:txBody>
        </p:sp>
        <p:sp>
          <p:nvSpPr>
            <p:cNvPr id="22" name="Estrela de 7 Pontas 21"/>
            <p:cNvSpPr/>
            <p:nvPr/>
          </p:nvSpPr>
          <p:spPr>
            <a:xfrm>
              <a:off x="3083455" y="4713872"/>
              <a:ext cx="266700" cy="183636"/>
            </a:xfrm>
            <a:prstGeom prst="star7">
              <a:avLst/>
            </a:prstGeom>
            <a:solidFill>
              <a:schemeClr val="tx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2" name="Agrupar 11"/>
          <p:cNvGrpSpPr/>
          <p:nvPr/>
        </p:nvGrpSpPr>
        <p:grpSpPr>
          <a:xfrm>
            <a:off x="7950753" y="5553772"/>
            <a:ext cx="1424165" cy="523220"/>
            <a:chOff x="3083455" y="5136804"/>
            <a:chExt cx="1424165" cy="523220"/>
          </a:xfrm>
        </p:grpSpPr>
        <p:sp>
          <p:nvSpPr>
            <p:cNvPr id="20" name="CaixaDeTexto 19"/>
            <p:cNvSpPr txBox="1"/>
            <p:nvPr/>
          </p:nvSpPr>
          <p:spPr>
            <a:xfrm>
              <a:off x="3326206" y="5136804"/>
              <a:ext cx="118141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dirty="0" smtClean="0"/>
                <a:t>Nível 2</a:t>
              </a:r>
              <a:endParaRPr lang="pt-BR" sz="2800" dirty="0"/>
            </a:p>
          </p:txBody>
        </p:sp>
        <p:sp>
          <p:nvSpPr>
            <p:cNvPr id="24" name="Estrela de 7 Pontas 23"/>
            <p:cNvSpPr/>
            <p:nvPr/>
          </p:nvSpPr>
          <p:spPr>
            <a:xfrm>
              <a:off x="3083455" y="5296659"/>
              <a:ext cx="266700" cy="183636"/>
            </a:xfrm>
            <a:prstGeom prst="star7">
              <a:avLst/>
            </a:prstGeom>
            <a:solidFill>
              <a:schemeClr val="tx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4" name="Agrupar 13"/>
          <p:cNvGrpSpPr/>
          <p:nvPr/>
        </p:nvGrpSpPr>
        <p:grpSpPr>
          <a:xfrm>
            <a:off x="11658600" y="5565053"/>
            <a:ext cx="1426266" cy="523220"/>
            <a:chOff x="3081354" y="5729528"/>
            <a:chExt cx="1426266" cy="523220"/>
          </a:xfrm>
        </p:grpSpPr>
        <p:sp>
          <p:nvSpPr>
            <p:cNvPr id="21" name="CaixaDeTexto 20"/>
            <p:cNvSpPr txBox="1"/>
            <p:nvPr/>
          </p:nvSpPr>
          <p:spPr>
            <a:xfrm>
              <a:off x="3326206" y="5729528"/>
              <a:ext cx="118141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dirty="0" smtClean="0"/>
                <a:t>Nível 3</a:t>
              </a:r>
              <a:endParaRPr lang="pt-BR" sz="2800" dirty="0"/>
            </a:p>
          </p:txBody>
        </p:sp>
        <p:sp>
          <p:nvSpPr>
            <p:cNvPr id="25" name="Estrela de 7 Pontas 24"/>
            <p:cNvSpPr/>
            <p:nvPr/>
          </p:nvSpPr>
          <p:spPr>
            <a:xfrm>
              <a:off x="3081354" y="5904637"/>
              <a:ext cx="266700" cy="183636"/>
            </a:xfrm>
            <a:prstGeom prst="star7">
              <a:avLst/>
            </a:prstGeom>
            <a:solidFill>
              <a:schemeClr val="tx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7" name="CaixaDeTexto 26"/>
          <p:cNvSpPr txBox="1"/>
          <p:nvPr/>
        </p:nvSpPr>
        <p:spPr>
          <a:xfrm>
            <a:off x="5810640" y="4405858"/>
            <a:ext cx="59471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 smtClean="0"/>
              <a:t>Transtorno do Espectro Autista</a:t>
            </a:r>
            <a:endParaRPr lang="pt-BR" sz="36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3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259300" y="479195"/>
            <a:ext cx="422866" cy="244494"/>
          </a:xfrm>
          <a:custGeom>
            <a:avLst/>
            <a:gdLst/>
            <a:ahLst/>
            <a:cxnLst/>
            <a:rect l="l" t="t" r="r" b="b"/>
            <a:pathLst>
              <a:path w="422866" h="244494">
                <a:moveTo>
                  <a:pt x="0" y="0"/>
                </a:moveTo>
                <a:lnTo>
                  <a:pt x="422866" y="0"/>
                </a:lnTo>
                <a:lnTo>
                  <a:pt x="422866" y="244493"/>
                </a:lnTo>
                <a:lnTo>
                  <a:pt x="0" y="2444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73429" y="479195"/>
            <a:ext cx="274427" cy="260019"/>
          </a:xfrm>
          <a:custGeom>
            <a:avLst/>
            <a:gdLst/>
            <a:ahLst/>
            <a:cxnLst/>
            <a:rect l="l" t="t" r="r" b="b"/>
            <a:pathLst>
              <a:path w="274427" h="260019">
                <a:moveTo>
                  <a:pt x="0" y="0"/>
                </a:moveTo>
                <a:lnTo>
                  <a:pt x="274427" y="0"/>
                </a:lnTo>
                <a:lnTo>
                  <a:pt x="274427" y="260019"/>
                </a:lnTo>
                <a:lnTo>
                  <a:pt x="0" y="2600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8063054" y="8723599"/>
            <a:ext cx="224946" cy="534701"/>
            <a:chOff x="0" y="0"/>
            <a:chExt cx="59245" cy="14082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9245" cy="140827"/>
            </a:xfrm>
            <a:custGeom>
              <a:avLst/>
              <a:gdLst/>
              <a:ahLst/>
              <a:cxnLst/>
              <a:rect l="l" t="t" r="r" b="b"/>
              <a:pathLst>
                <a:path w="59245" h="140827">
                  <a:moveTo>
                    <a:pt x="0" y="0"/>
                  </a:moveTo>
                  <a:lnTo>
                    <a:pt x="59245" y="0"/>
                  </a:lnTo>
                  <a:lnTo>
                    <a:pt x="59245" y="140827"/>
                  </a:lnTo>
                  <a:lnTo>
                    <a:pt x="0" y="140827"/>
                  </a:lnTo>
                  <a:close/>
                </a:path>
              </a:pathLst>
            </a:custGeom>
            <a:solidFill>
              <a:srgbClr val="2F3C81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59245" cy="1979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6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8063054" y="8188899"/>
            <a:ext cx="224946" cy="534701"/>
            <a:chOff x="0" y="0"/>
            <a:chExt cx="59245" cy="14082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9245" cy="140827"/>
            </a:xfrm>
            <a:custGeom>
              <a:avLst/>
              <a:gdLst/>
              <a:ahLst/>
              <a:cxnLst/>
              <a:rect l="l" t="t" r="r" b="b"/>
              <a:pathLst>
                <a:path w="59245" h="140827">
                  <a:moveTo>
                    <a:pt x="0" y="0"/>
                  </a:moveTo>
                  <a:lnTo>
                    <a:pt x="59245" y="0"/>
                  </a:lnTo>
                  <a:lnTo>
                    <a:pt x="59245" y="140827"/>
                  </a:lnTo>
                  <a:lnTo>
                    <a:pt x="0" y="140827"/>
                  </a:lnTo>
                  <a:close/>
                </a:path>
              </a:pathLst>
            </a:custGeom>
            <a:solidFill>
              <a:srgbClr val="E1E4F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59245" cy="1979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6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096258" y="489099"/>
            <a:ext cx="1385913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59"/>
              </a:lnSpc>
              <a:spcBef>
                <a:spcPct val="0"/>
              </a:spcBef>
            </a:pPr>
            <a:r>
              <a:rPr lang="en-US" sz="1399">
                <a:solidFill>
                  <a:srgbClr val="1F2020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TEALEARN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73429" y="1181100"/>
            <a:ext cx="3322761" cy="860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91"/>
              </a:lnSpc>
            </a:pPr>
            <a:r>
              <a:rPr lang="en-US" sz="2850" b="1" dirty="0">
                <a:solidFill>
                  <a:srgbClr val="2F3C81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CONCEITOS FUNDAMENTAIS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414782" y="2422220"/>
            <a:ext cx="496110" cy="297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8"/>
              </a:lnSpc>
              <a:spcBef>
                <a:spcPct val="0"/>
              </a:spcBef>
            </a:pPr>
            <a:r>
              <a:rPr lang="en-US" sz="1798" b="1" dirty="0" smtClean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</a:t>
            </a:r>
            <a:endParaRPr lang="en-US" sz="1798" b="1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28" name="CaixaDeTexto 27"/>
          <p:cNvSpPr txBox="1"/>
          <p:nvPr/>
        </p:nvSpPr>
        <p:spPr>
          <a:xfrm>
            <a:off x="5310611" y="3467100"/>
            <a:ext cx="76667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400" dirty="0" smtClean="0"/>
              <a:t>DI – Deficiência Intelectual</a:t>
            </a:r>
            <a:endParaRPr lang="pt-BR" sz="5400" dirty="0"/>
          </a:p>
        </p:txBody>
      </p:sp>
      <p:sp>
        <p:nvSpPr>
          <p:cNvPr id="26" name="CaixaDeTexto 25"/>
          <p:cNvSpPr txBox="1"/>
          <p:nvPr/>
        </p:nvSpPr>
        <p:spPr>
          <a:xfrm>
            <a:off x="1096258" y="7033669"/>
            <a:ext cx="33743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 smtClean="0"/>
              <a:t>Níveis e Medição</a:t>
            </a:r>
            <a:endParaRPr lang="pt-BR" sz="3600" dirty="0"/>
          </a:p>
        </p:txBody>
      </p:sp>
      <p:sp>
        <p:nvSpPr>
          <p:cNvPr id="27" name="CaixaDeTexto 26"/>
          <p:cNvSpPr txBox="1"/>
          <p:nvPr/>
        </p:nvSpPr>
        <p:spPr>
          <a:xfrm>
            <a:off x="12573000" y="7033669"/>
            <a:ext cx="3712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Relação com o TEA</a:t>
            </a: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135484858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6" grpId="0"/>
      <p:bldP spid="2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259300" y="479195"/>
            <a:ext cx="422866" cy="244494"/>
          </a:xfrm>
          <a:custGeom>
            <a:avLst/>
            <a:gdLst/>
            <a:ahLst/>
            <a:cxnLst/>
            <a:rect l="l" t="t" r="r" b="b"/>
            <a:pathLst>
              <a:path w="422866" h="244494">
                <a:moveTo>
                  <a:pt x="0" y="0"/>
                </a:moveTo>
                <a:lnTo>
                  <a:pt x="422866" y="0"/>
                </a:lnTo>
                <a:lnTo>
                  <a:pt x="422866" y="244493"/>
                </a:lnTo>
                <a:lnTo>
                  <a:pt x="0" y="2444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73429" y="479195"/>
            <a:ext cx="274427" cy="260019"/>
          </a:xfrm>
          <a:custGeom>
            <a:avLst/>
            <a:gdLst/>
            <a:ahLst/>
            <a:cxnLst/>
            <a:rect l="l" t="t" r="r" b="b"/>
            <a:pathLst>
              <a:path w="274427" h="260019">
                <a:moveTo>
                  <a:pt x="0" y="0"/>
                </a:moveTo>
                <a:lnTo>
                  <a:pt x="274427" y="0"/>
                </a:lnTo>
                <a:lnTo>
                  <a:pt x="274427" y="260019"/>
                </a:lnTo>
                <a:lnTo>
                  <a:pt x="0" y="2600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8063054" y="8723599"/>
            <a:ext cx="224946" cy="534701"/>
            <a:chOff x="0" y="0"/>
            <a:chExt cx="59245" cy="14082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9245" cy="140827"/>
            </a:xfrm>
            <a:custGeom>
              <a:avLst/>
              <a:gdLst/>
              <a:ahLst/>
              <a:cxnLst/>
              <a:rect l="l" t="t" r="r" b="b"/>
              <a:pathLst>
                <a:path w="59245" h="140827">
                  <a:moveTo>
                    <a:pt x="0" y="0"/>
                  </a:moveTo>
                  <a:lnTo>
                    <a:pt x="59245" y="0"/>
                  </a:lnTo>
                  <a:lnTo>
                    <a:pt x="59245" y="140827"/>
                  </a:lnTo>
                  <a:lnTo>
                    <a:pt x="0" y="140827"/>
                  </a:lnTo>
                  <a:close/>
                </a:path>
              </a:pathLst>
            </a:custGeom>
            <a:solidFill>
              <a:srgbClr val="2F3C81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59245" cy="1979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6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8063054" y="8188899"/>
            <a:ext cx="224946" cy="534701"/>
            <a:chOff x="0" y="0"/>
            <a:chExt cx="59245" cy="14082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9245" cy="140827"/>
            </a:xfrm>
            <a:custGeom>
              <a:avLst/>
              <a:gdLst/>
              <a:ahLst/>
              <a:cxnLst/>
              <a:rect l="l" t="t" r="r" b="b"/>
              <a:pathLst>
                <a:path w="59245" h="140827">
                  <a:moveTo>
                    <a:pt x="0" y="0"/>
                  </a:moveTo>
                  <a:lnTo>
                    <a:pt x="59245" y="0"/>
                  </a:lnTo>
                  <a:lnTo>
                    <a:pt x="59245" y="140827"/>
                  </a:lnTo>
                  <a:lnTo>
                    <a:pt x="0" y="140827"/>
                  </a:lnTo>
                  <a:close/>
                </a:path>
              </a:pathLst>
            </a:custGeom>
            <a:solidFill>
              <a:srgbClr val="E1E4F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59245" cy="1979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6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096258" y="489099"/>
            <a:ext cx="1385913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59"/>
              </a:lnSpc>
              <a:spcBef>
                <a:spcPct val="0"/>
              </a:spcBef>
            </a:pPr>
            <a:r>
              <a:rPr lang="en-US" sz="1399">
                <a:solidFill>
                  <a:srgbClr val="1F2020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TEALEARN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73429" y="1181100"/>
            <a:ext cx="3322761" cy="860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91"/>
              </a:lnSpc>
            </a:pPr>
            <a:r>
              <a:rPr lang="en-US" sz="2850" b="1" dirty="0">
                <a:solidFill>
                  <a:srgbClr val="2F3C81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CONCEITOS FUNDAMENTAIS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414782" y="2422220"/>
            <a:ext cx="496110" cy="297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8"/>
              </a:lnSpc>
              <a:spcBef>
                <a:spcPct val="0"/>
              </a:spcBef>
            </a:pPr>
            <a:r>
              <a:rPr lang="en-US" sz="1798" b="1" dirty="0" smtClean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</a:t>
            </a:r>
            <a:endParaRPr lang="en-US" sz="1798" b="1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28" name="CaixaDeTexto 27"/>
          <p:cNvSpPr txBox="1"/>
          <p:nvPr/>
        </p:nvSpPr>
        <p:spPr>
          <a:xfrm>
            <a:off x="2702647" y="3543300"/>
            <a:ext cx="119203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400" dirty="0" smtClean="0"/>
              <a:t>DUA – Desenho Universal de Aprendizado</a:t>
            </a:r>
            <a:endParaRPr lang="pt-BR" sz="5400" dirty="0"/>
          </a:p>
        </p:txBody>
      </p:sp>
      <p:sp>
        <p:nvSpPr>
          <p:cNvPr id="26" name="CaixaDeTexto 25"/>
          <p:cNvSpPr txBox="1"/>
          <p:nvPr/>
        </p:nvSpPr>
        <p:spPr>
          <a:xfrm>
            <a:off x="1096258" y="7033669"/>
            <a:ext cx="3712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 smtClean="0"/>
              <a:t>Relação com o TEA</a:t>
            </a:r>
            <a:endParaRPr lang="pt-BR" sz="3600" dirty="0"/>
          </a:p>
        </p:txBody>
      </p:sp>
      <p:sp>
        <p:nvSpPr>
          <p:cNvPr id="27" name="CaixaDeTexto 26"/>
          <p:cNvSpPr txBox="1"/>
          <p:nvPr/>
        </p:nvSpPr>
        <p:spPr>
          <a:xfrm>
            <a:off x="12573000" y="7033669"/>
            <a:ext cx="39967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 smtClean="0"/>
              <a:t>Oferece Alternativas</a:t>
            </a: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284136857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6" grpId="0"/>
      <p:bldP spid="2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259300" y="479195"/>
            <a:ext cx="422866" cy="244494"/>
          </a:xfrm>
          <a:custGeom>
            <a:avLst/>
            <a:gdLst/>
            <a:ahLst/>
            <a:cxnLst/>
            <a:rect l="l" t="t" r="r" b="b"/>
            <a:pathLst>
              <a:path w="422866" h="244494">
                <a:moveTo>
                  <a:pt x="0" y="0"/>
                </a:moveTo>
                <a:lnTo>
                  <a:pt x="422866" y="0"/>
                </a:lnTo>
                <a:lnTo>
                  <a:pt x="422866" y="244493"/>
                </a:lnTo>
                <a:lnTo>
                  <a:pt x="0" y="2444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73429" y="479195"/>
            <a:ext cx="274427" cy="260019"/>
          </a:xfrm>
          <a:custGeom>
            <a:avLst/>
            <a:gdLst/>
            <a:ahLst/>
            <a:cxnLst/>
            <a:rect l="l" t="t" r="r" b="b"/>
            <a:pathLst>
              <a:path w="274427" h="260019">
                <a:moveTo>
                  <a:pt x="0" y="0"/>
                </a:moveTo>
                <a:lnTo>
                  <a:pt x="274427" y="0"/>
                </a:lnTo>
                <a:lnTo>
                  <a:pt x="274427" y="260019"/>
                </a:lnTo>
                <a:lnTo>
                  <a:pt x="0" y="2600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8063054" y="8723599"/>
            <a:ext cx="224946" cy="534701"/>
            <a:chOff x="0" y="0"/>
            <a:chExt cx="59245" cy="14082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9245" cy="140827"/>
            </a:xfrm>
            <a:custGeom>
              <a:avLst/>
              <a:gdLst/>
              <a:ahLst/>
              <a:cxnLst/>
              <a:rect l="l" t="t" r="r" b="b"/>
              <a:pathLst>
                <a:path w="59245" h="140827">
                  <a:moveTo>
                    <a:pt x="0" y="0"/>
                  </a:moveTo>
                  <a:lnTo>
                    <a:pt x="59245" y="0"/>
                  </a:lnTo>
                  <a:lnTo>
                    <a:pt x="59245" y="140827"/>
                  </a:lnTo>
                  <a:lnTo>
                    <a:pt x="0" y="140827"/>
                  </a:lnTo>
                  <a:close/>
                </a:path>
              </a:pathLst>
            </a:custGeom>
            <a:solidFill>
              <a:srgbClr val="2F3C81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59245" cy="1979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6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8063054" y="8188899"/>
            <a:ext cx="224946" cy="534701"/>
            <a:chOff x="0" y="0"/>
            <a:chExt cx="59245" cy="14082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9245" cy="140827"/>
            </a:xfrm>
            <a:custGeom>
              <a:avLst/>
              <a:gdLst/>
              <a:ahLst/>
              <a:cxnLst/>
              <a:rect l="l" t="t" r="r" b="b"/>
              <a:pathLst>
                <a:path w="59245" h="140827">
                  <a:moveTo>
                    <a:pt x="0" y="0"/>
                  </a:moveTo>
                  <a:lnTo>
                    <a:pt x="59245" y="0"/>
                  </a:lnTo>
                  <a:lnTo>
                    <a:pt x="59245" y="140827"/>
                  </a:lnTo>
                  <a:lnTo>
                    <a:pt x="0" y="140827"/>
                  </a:lnTo>
                  <a:close/>
                </a:path>
              </a:pathLst>
            </a:custGeom>
            <a:solidFill>
              <a:srgbClr val="E1E4F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59245" cy="1979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6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96258" y="489099"/>
            <a:ext cx="1385913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59"/>
              </a:lnSpc>
              <a:spcBef>
                <a:spcPct val="0"/>
              </a:spcBef>
            </a:pPr>
            <a:r>
              <a:rPr lang="en-US" sz="1399">
                <a:solidFill>
                  <a:srgbClr val="1F2020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TEALEARN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40447" y="1028700"/>
            <a:ext cx="5099774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60"/>
              </a:lnSpc>
            </a:pPr>
            <a:r>
              <a:rPr lang="en-US" sz="4000" b="1" dirty="0">
                <a:solidFill>
                  <a:srgbClr val="2F3C81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METODOLOGIA</a:t>
            </a:r>
          </a:p>
          <a:p>
            <a:pPr marL="0" lvl="0" indent="0" algn="l">
              <a:lnSpc>
                <a:spcPts val="4760"/>
              </a:lnSpc>
            </a:pPr>
            <a:r>
              <a:rPr lang="en-US" sz="4000" b="1" dirty="0">
                <a:solidFill>
                  <a:srgbClr val="2F3C81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ADDIE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EB9E1D61-E489-9D60-5192-E986AD716CDC}"/>
              </a:ext>
            </a:extLst>
          </p:cNvPr>
          <p:cNvSpPr txBox="1"/>
          <p:nvPr/>
        </p:nvSpPr>
        <p:spPr>
          <a:xfrm>
            <a:off x="847036" y="2835145"/>
            <a:ext cx="368600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7200" dirty="0" smtClean="0">
                <a:solidFill>
                  <a:srgbClr val="00B0F0"/>
                </a:solidFill>
              </a:rPr>
              <a:t>A</a:t>
            </a:r>
            <a:r>
              <a:rPr lang="pt-BR" sz="7200" dirty="0" smtClean="0"/>
              <a:t>NALYSIS</a:t>
            </a:r>
            <a:endParaRPr lang="pt-BR" sz="7200" dirty="0"/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527D76B1-1C1E-B630-EBEE-382A983724EA}"/>
              </a:ext>
            </a:extLst>
          </p:cNvPr>
          <p:cNvSpPr txBox="1"/>
          <p:nvPr/>
        </p:nvSpPr>
        <p:spPr>
          <a:xfrm>
            <a:off x="4419600" y="5009767"/>
            <a:ext cx="591918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7200" dirty="0" smtClean="0">
                <a:solidFill>
                  <a:srgbClr val="00B0F0"/>
                </a:solidFill>
              </a:rPr>
              <a:t>D</a:t>
            </a:r>
            <a:r>
              <a:rPr lang="pt-BR" sz="7200" dirty="0" smtClean="0"/>
              <a:t>EVELOPMENT</a:t>
            </a:r>
            <a:endParaRPr lang="pt-BR" sz="7200" dirty="0"/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7B49B693-1EAC-7986-3F52-70327F22C915}"/>
              </a:ext>
            </a:extLst>
          </p:cNvPr>
          <p:cNvSpPr txBox="1"/>
          <p:nvPr/>
        </p:nvSpPr>
        <p:spPr>
          <a:xfrm>
            <a:off x="2057400" y="7184388"/>
            <a:ext cx="302897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7200" dirty="0">
                <a:solidFill>
                  <a:srgbClr val="00B050"/>
                </a:solidFill>
              </a:rPr>
              <a:t>D</a:t>
            </a:r>
            <a:r>
              <a:rPr lang="pt-BR" sz="7200" dirty="0"/>
              <a:t>ESIGN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261C0E92-8A95-FBF9-157F-881F63FCD4B5}"/>
              </a:ext>
            </a:extLst>
          </p:cNvPr>
          <p:cNvSpPr txBox="1"/>
          <p:nvPr/>
        </p:nvSpPr>
        <p:spPr>
          <a:xfrm>
            <a:off x="10777307" y="2835144"/>
            <a:ext cx="708719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7200" dirty="0" smtClean="0">
                <a:solidFill>
                  <a:srgbClr val="FF0000"/>
                </a:solidFill>
              </a:rPr>
              <a:t>I</a:t>
            </a:r>
            <a:r>
              <a:rPr lang="pt-BR" sz="7200" dirty="0" smtClean="0"/>
              <a:t>MPLEMENTATION</a:t>
            </a:r>
            <a:endParaRPr lang="pt-BR" sz="7200" dirty="0"/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A9D87003-C6B9-EACD-0D98-D1B4050D89E2}"/>
              </a:ext>
            </a:extLst>
          </p:cNvPr>
          <p:cNvSpPr txBox="1"/>
          <p:nvPr/>
        </p:nvSpPr>
        <p:spPr>
          <a:xfrm>
            <a:off x="12420600" y="7183005"/>
            <a:ext cx="494237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7200" dirty="0" smtClean="0">
                <a:solidFill>
                  <a:srgbClr val="00B0F0"/>
                </a:solidFill>
              </a:rPr>
              <a:t>E</a:t>
            </a:r>
            <a:r>
              <a:rPr lang="pt-BR" sz="7200" dirty="0" smtClean="0"/>
              <a:t>VALUATION</a:t>
            </a:r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419194676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259300" y="479195"/>
            <a:ext cx="422866" cy="244494"/>
          </a:xfrm>
          <a:custGeom>
            <a:avLst/>
            <a:gdLst/>
            <a:ahLst/>
            <a:cxnLst/>
            <a:rect l="l" t="t" r="r" b="b"/>
            <a:pathLst>
              <a:path w="422866" h="244494">
                <a:moveTo>
                  <a:pt x="0" y="0"/>
                </a:moveTo>
                <a:lnTo>
                  <a:pt x="422866" y="0"/>
                </a:lnTo>
                <a:lnTo>
                  <a:pt x="422866" y="244493"/>
                </a:lnTo>
                <a:lnTo>
                  <a:pt x="0" y="2444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73429" y="479195"/>
            <a:ext cx="274427" cy="260019"/>
          </a:xfrm>
          <a:custGeom>
            <a:avLst/>
            <a:gdLst/>
            <a:ahLst/>
            <a:cxnLst/>
            <a:rect l="l" t="t" r="r" b="b"/>
            <a:pathLst>
              <a:path w="274427" h="260019">
                <a:moveTo>
                  <a:pt x="0" y="0"/>
                </a:moveTo>
                <a:lnTo>
                  <a:pt x="274427" y="0"/>
                </a:lnTo>
                <a:lnTo>
                  <a:pt x="274427" y="260019"/>
                </a:lnTo>
                <a:lnTo>
                  <a:pt x="0" y="2600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8063054" y="8723599"/>
            <a:ext cx="224946" cy="534701"/>
            <a:chOff x="0" y="0"/>
            <a:chExt cx="59245" cy="14082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9245" cy="140827"/>
            </a:xfrm>
            <a:custGeom>
              <a:avLst/>
              <a:gdLst/>
              <a:ahLst/>
              <a:cxnLst/>
              <a:rect l="l" t="t" r="r" b="b"/>
              <a:pathLst>
                <a:path w="59245" h="140827">
                  <a:moveTo>
                    <a:pt x="0" y="0"/>
                  </a:moveTo>
                  <a:lnTo>
                    <a:pt x="59245" y="0"/>
                  </a:lnTo>
                  <a:lnTo>
                    <a:pt x="59245" y="140827"/>
                  </a:lnTo>
                  <a:lnTo>
                    <a:pt x="0" y="140827"/>
                  </a:lnTo>
                  <a:close/>
                </a:path>
              </a:pathLst>
            </a:custGeom>
            <a:solidFill>
              <a:srgbClr val="2F3C81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59245" cy="1979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6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8063054" y="8188899"/>
            <a:ext cx="224946" cy="534701"/>
            <a:chOff x="0" y="0"/>
            <a:chExt cx="59245" cy="14082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9245" cy="140827"/>
            </a:xfrm>
            <a:custGeom>
              <a:avLst/>
              <a:gdLst/>
              <a:ahLst/>
              <a:cxnLst/>
              <a:rect l="l" t="t" r="r" b="b"/>
              <a:pathLst>
                <a:path w="59245" h="140827">
                  <a:moveTo>
                    <a:pt x="0" y="0"/>
                  </a:moveTo>
                  <a:lnTo>
                    <a:pt x="59245" y="0"/>
                  </a:lnTo>
                  <a:lnTo>
                    <a:pt x="59245" y="140827"/>
                  </a:lnTo>
                  <a:lnTo>
                    <a:pt x="0" y="140827"/>
                  </a:lnTo>
                  <a:close/>
                </a:path>
              </a:pathLst>
            </a:custGeom>
            <a:solidFill>
              <a:srgbClr val="E1E4F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59245" cy="1979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6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96258" y="489099"/>
            <a:ext cx="1385913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59"/>
              </a:lnSpc>
              <a:spcBef>
                <a:spcPct val="0"/>
              </a:spcBef>
            </a:pPr>
            <a:r>
              <a:rPr lang="en-US" sz="1399">
                <a:solidFill>
                  <a:srgbClr val="1F2020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TEALEARN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40447" y="1028700"/>
            <a:ext cx="5099774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60"/>
              </a:lnSpc>
            </a:pPr>
            <a:r>
              <a:rPr lang="en-US" sz="4000" b="1" dirty="0" smtClean="0">
                <a:solidFill>
                  <a:srgbClr val="2F3C81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DUA + ADDIE</a:t>
            </a:r>
            <a:endParaRPr lang="en-US" sz="4000" b="1" dirty="0">
              <a:solidFill>
                <a:srgbClr val="2F3C81"/>
              </a:solidFill>
              <a:latin typeface="TT Supermolot Neue Expanded Bold"/>
              <a:ea typeface="TT Supermolot Neue Expanded Bold"/>
              <a:cs typeface="TT Supermolot Neue Expanded Bold"/>
              <a:sym typeface="TT Supermolot Neue Expanded Bold"/>
            </a:endParaRP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7B49B693-1EAC-7986-3F52-70327F22C915}"/>
              </a:ext>
            </a:extLst>
          </p:cNvPr>
          <p:cNvSpPr txBox="1"/>
          <p:nvPr/>
        </p:nvSpPr>
        <p:spPr>
          <a:xfrm>
            <a:off x="2057400" y="7184388"/>
            <a:ext cx="302897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7200" dirty="0">
                <a:solidFill>
                  <a:srgbClr val="00B050"/>
                </a:solidFill>
              </a:rPr>
              <a:t>D</a:t>
            </a:r>
            <a:r>
              <a:rPr lang="pt-BR" sz="7200" dirty="0"/>
              <a:t>ESIGN</a:t>
            </a:r>
          </a:p>
        </p:txBody>
      </p:sp>
      <p:pic>
        <p:nvPicPr>
          <p:cNvPr id="14" name="Imagem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00" y="3314700"/>
            <a:ext cx="3186922" cy="3991969"/>
          </a:xfrm>
          <a:prstGeom prst="rect">
            <a:avLst/>
          </a:prstGeom>
        </p:spPr>
      </p:pic>
      <p:sp>
        <p:nvSpPr>
          <p:cNvPr id="17" name="CaixaDeTexto 16"/>
          <p:cNvSpPr txBox="1"/>
          <p:nvPr/>
        </p:nvSpPr>
        <p:spPr>
          <a:xfrm>
            <a:off x="12659308" y="2136702"/>
            <a:ext cx="15799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6000" dirty="0" smtClean="0"/>
              <a:t>DUA</a:t>
            </a:r>
            <a:endParaRPr lang="pt-BR" sz="6000" dirty="0"/>
          </a:p>
        </p:txBody>
      </p:sp>
      <p:sp>
        <p:nvSpPr>
          <p:cNvPr id="18" name="Texto Explicativo em Elipse 17"/>
          <p:cNvSpPr/>
          <p:nvPr/>
        </p:nvSpPr>
        <p:spPr>
          <a:xfrm>
            <a:off x="11582400" y="1649696"/>
            <a:ext cx="3733800" cy="2438400"/>
          </a:xfrm>
          <a:prstGeom prst="wedgeEllipseCallout">
            <a:avLst>
              <a:gd name="adj1" fmla="val -35177"/>
              <a:gd name="adj2" fmla="val 59821"/>
            </a:avLst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Mais 18"/>
          <p:cNvSpPr/>
          <p:nvPr/>
        </p:nvSpPr>
        <p:spPr>
          <a:xfrm>
            <a:off x="6705600" y="4838700"/>
            <a:ext cx="1828800" cy="1828800"/>
          </a:xfrm>
          <a:prstGeom prst="mathPlus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CaixaDeTexto 19"/>
          <p:cNvSpPr txBox="1"/>
          <p:nvPr/>
        </p:nvSpPr>
        <p:spPr>
          <a:xfrm>
            <a:off x="11640770" y="2990030"/>
            <a:ext cx="36754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Desenho Universal da Aprendizagem </a:t>
            </a:r>
          </a:p>
        </p:txBody>
      </p:sp>
    </p:spTree>
    <p:extLst>
      <p:ext uri="{BB962C8B-B14F-4D97-AF65-F5344CB8AC3E}">
        <p14:creationId xmlns:p14="http://schemas.microsoft.com/office/powerpoint/2010/main" val="11808203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259300" y="479195"/>
            <a:ext cx="422866" cy="244494"/>
          </a:xfrm>
          <a:custGeom>
            <a:avLst/>
            <a:gdLst/>
            <a:ahLst/>
            <a:cxnLst/>
            <a:rect l="l" t="t" r="r" b="b"/>
            <a:pathLst>
              <a:path w="422866" h="244494">
                <a:moveTo>
                  <a:pt x="0" y="0"/>
                </a:moveTo>
                <a:lnTo>
                  <a:pt x="422866" y="0"/>
                </a:lnTo>
                <a:lnTo>
                  <a:pt x="422866" y="244493"/>
                </a:lnTo>
                <a:lnTo>
                  <a:pt x="0" y="2444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73429" y="479195"/>
            <a:ext cx="274427" cy="260019"/>
          </a:xfrm>
          <a:custGeom>
            <a:avLst/>
            <a:gdLst/>
            <a:ahLst/>
            <a:cxnLst/>
            <a:rect l="l" t="t" r="r" b="b"/>
            <a:pathLst>
              <a:path w="274427" h="260019">
                <a:moveTo>
                  <a:pt x="0" y="0"/>
                </a:moveTo>
                <a:lnTo>
                  <a:pt x="274427" y="0"/>
                </a:lnTo>
                <a:lnTo>
                  <a:pt x="274427" y="260019"/>
                </a:lnTo>
                <a:lnTo>
                  <a:pt x="0" y="2600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8063054" y="8723599"/>
            <a:ext cx="224946" cy="534701"/>
            <a:chOff x="0" y="0"/>
            <a:chExt cx="59245" cy="14082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9245" cy="140827"/>
            </a:xfrm>
            <a:custGeom>
              <a:avLst/>
              <a:gdLst/>
              <a:ahLst/>
              <a:cxnLst/>
              <a:rect l="l" t="t" r="r" b="b"/>
              <a:pathLst>
                <a:path w="59245" h="140827">
                  <a:moveTo>
                    <a:pt x="0" y="0"/>
                  </a:moveTo>
                  <a:lnTo>
                    <a:pt x="59245" y="0"/>
                  </a:lnTo>
                  <a:lnTo>
                    <a:pt x="59245" y="140827"/>
                  </a:lnTo>
                  <a:lnTo>
                    <a:pt x="0" y="140827"/>
                  </a:lnTo>
                  <a:close/>
                </a:path>
              </a:pathLst>
            </a:custGeom>
            <a:solidFill>
              <a:srgbClr val="2F3C81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59245" cy="1979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6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8063054" y="8188899"/>
            <a:ext cx="224946" cy="534701"/>
            <a:chOff x="0" y="0"/>
            <a:chExt cx="59245" cy="14082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9245" cy="140827"/>
            </a:xfrm>
            <a:custGeom>
              <a:avLst/>
              <a:gdLst/>
              <a:ahLst/>
              <a:cxnLst/>
              <a:rect l="l" t="t" r="r" b="b"/>
              <a:pathLst>
                <a:path w="59245" h="140827">
                  <a:moveTo>
                    <a:pt x="0" y="0"/>
                  </a:moveTo>
                  <a:lnTo>
                    <a:pt x="59245" y="0"/>
                  </a:lnTo>
                  <a:lnTo>
                    <a:pt x="59245" y="140827"/>
                  </a:lnTo>
                  <a:lnTo>
                    <a:pt x="0" y="140827"/>
                  </a:lnTo>
                  <a:close/>
                </a:path>
              </a:pathLst>
            </a:custGeom>
            <a:solidFill>
              <a:srgbClr val="E1E4F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59245" cy="1979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6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96258" y="489099"/>
            <a:ext cx="1385913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59"/>
              </a:lnSpc>
              <a:spcBef>
                <a:spcPct val="0"/>
              </a:spcBef>
            </a:pPr>
            <a:r>
              <a:rPr lang="en-US" sz="1399">
                <a:solidFill>
                  <a:srgbClr val="1F2020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TEALEARN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3429" y="1082565"/>
            <a:ext cx="5099774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60"/>
              </a:lnSpc>
            </a:pPr>
            <a:r>
              <a:rPr lang="en-US" sz="4000" b="1" dirty="0">
                <a:solidFill>
                  <a:srgbClr val="2F3C81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METODOLOGIA</a:t>
            </a:r>
          </a:p>
          <a:p>
            <a:pPr marL="0" lvl="0" indent="0" algn="l">
              <a:lnSpc>
                <a:spcPts val="4760"/>
              </a:lnSpc>
            </a:pPr>
            <a:r>
              <a:rPr lang="en-US" sz="4000" b="1" dirty="0">
                <a:solidFill>
                  <a:srgbClr val="2F3C81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ADDIE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EB9E1D61-E489-9D60-5192-E986AD716CDC}"/>
              </a:ext>
            </a:extLst>
          </p:cNvPr>
          <p:cNvSpPr txBox="1"/>
          <p:nvPr/>
        </p:nvSpPr>
        <p:spPr>
          <a:xfrm>
            <a:off x="847036" y="2835145"/>
            <a:ext cx="368600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7200" dirty="0" smtClean="0">
                <a:solidFill>
                  <a:srgbClr val="00B0F0"/>
                </a:solidFill>
              </a:rPr>
              <a:t>A</a:t>
            </a:r>
            <a:r>
              <a:rPr lang="pt-BR" sz="7200" dirty="0" smtClean="0"/>
              <a:t>NALYSIS</a:t>
            </a:r>
            <a:endParaRPr lang="pt-BR" sz="7200" dirty="0"/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527D76B1-1C1E-B630-EBEE-382A983724EA}"/>
              </a:ext>
            </a:extLst>
          </p:cNvPr>
          <p:cNvSpPr txBox="1"/>
          <p:nvPr/>
        </p:nvSpPr>
        <p:spPr>
          <a:xfrm>
            <a:off x="4419600" y="5009767"/>
            <a:ext cx="591918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7200" dirty="0" smtClean="0">
                <a:solidFill>
                  <a:srgbClr val="00B0F0"/>
                </a:solidFill>
              </a:rPr>
              <a:t>D</a:t>
            </a:r>
            <a:r>
              <a:rPr lang="pt-BR" sz="7200" dirty="0" smtClean="0"/>
              <a:t>EVELOPMENT</a:t>
            </a:r>
            <a:endParaRPr lang="pt-BR" sz="7200" dirty="0"/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7B49B693-1EAC-7986-3F52-70327F22C915}"/>
              </a:ext>
            </a:extLst>
          </p:cNvPr>
          <p:cNvSpPr txBox="1"/>
          <p:nvPr/>
        </p:nvSpPr>
        <p:spPr>
          <a:xfrm>
            <a:off x="2057400" y="7184388"/>
            <a:ext cx="302897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7200" dirty="0">
                <a:solidFill>
                  <a:srgbClr val="00B050"/>
                </a:solidFill>
              </a:rPr>
              <a:t>D</a:t>
            </a:r>
            <a:r>
              <a:rPr lang="pt-BR" sz="7200" dirty="0"/>
              <a:t>ESIGN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261C0E92-8A95-FBF9-157F-881F63FCD4B5}"/>
              </a:ext>
            </a:extLst>
          </p:cNvPr>
          <p:cNvSpPr txBox="1"/>
          <p:nvPr/>
        </p:nvSpPr>
        <p:spPr>
          <a:xfrm>
            <a:off x="10777307" y="2835144"/>
            <a:ext cx="708719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7200" dirty="0" smtClean="0">
                <a:solidFill>
                  <a:srgbClr val="FF0000"/>
                </a:solidFill>
              </a:rPr>
              <a:t>I</a:t>
            </a:r>
            <a:r>
              <a:rPr lang="pt-BR" sz="7200" dirty="0" smtClean="0"/>
              <a:t>MPLEMENTATION</a:t>
            </a:r>
            <a:endParaRPr lang="pt-BR" sz="7200" dirty="0"/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A9D87003-C6B9-EACD-0D98-D1B4050D89E2}"/>
              </a:ext>
            </a:extLst>
          </p:cNvPr>
          <p:cNvSpPr txBox="1"/>
          <p:nvPr/>
        </p:nvSpPr>
        <p:spPr>
          <a:xfrm>
            <a:off x="12420600" y="7183005"/>
            <a:ext cx="494237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7200" dirty="0" smtClean="0">
                <a:solidFill>
                  <a:srgbClr val="00B0F0"/>
                </a:solidFill>
              </a:rPr>
              <a:t>E</a:t>
            </a:r>
            <a:r>
              <a:rPr lang="pt-BR" sz="7200" dirty="0" smtClean="0"/>
              <a:t>VALUATION</a:t>
            </a:r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3020070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259300" y="479195"/>
            <a:ext cx="422866" cy="244494"/>
          </a:xfrm>
          <a:custGeom>
            <a:avLst/>
            <a:gdLst/>
            <a:ahLst/>
            <a:cxnLst/>
            <a:rect l="l" t="t" r="r" b="b"/>
            <a:pathLst>
              <a:path w="422866" h="244494">
                <a:moveTo>
                  <a:pt x="0" y="0"/>
                </a:moveTo>
                <a:lnTo>
                  <a:pt x="422866" y="0"/>
                </a:lnTo>
                <a:lnTo>
                  <a:pt x="422866" y="244493"/>
                </a:lnTo>
                <a:lnTo>
                  <a:pt x="0" y="2444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73429" y="479195"/>
            <a:ext cx="274427" cy="260019"/>
          </a:xfrm>
          <a:custGeom>
            <a:avLst/>
            <a:gdLst/>
            <a:ahLst/>
            <a:cxnLst/>
            <a:rect l="l" t="t" r="r" b="b"/>
            <a:pathLst>
              <a:path w="274427" h="260019">
                <a:moveTo>
                  <a:pt x="0" y="0"/>
                </a:moveTo>
                <a:lnTo>
                  <a:pt x="274427" y="0"/>
                </a:lnTo>
                <a:lnTo>
                  <a:pt x="274427" y="260019"/>
                </a:lnTo>
                <a:lnTo>
                  <a:pt x="0" y="2600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8063054" y="8723599"/>
            <a:ext cx="224946" cy="534701"/>
            <a:chOff x="0" y="0"/>
            <a:chExt cx="59245" cy="14082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9245" cy="140827"/>
            </a:xfrm>
            <a:custGeom>
              <a:avLst/>
              <a:gdLst/>
              <a:ahLst/>
              <a:cxnLst/>
              <a:rect l="l" t="t" r="r" b="b"/>
              <a:pathLst>
                <a:path w="59245" h="140827">
                  <a:moveTo>
                    <a:pt x="0" y="0"/>
                  </a:moveTo>
                  <a:lnTo>
                    <a:pt x="59245" y="0"/>
                  </a:lnTo>
                  <a:lnTo>
                    <a:pt x="59245" y="140827"/>
                  </a:lnTo>
                  <a:lnTo>
                    <a:pt x="0" y="140827"/>
                  </a:lnTo>
                  <a:close/>
                </a:path>
              </a:pathLst>
            </a:custGeom>
            <a:solidFill>
              <a:srgbClr val="2F3C81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59245" cy="1979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6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8063054" y="8188899"/>
            <a:ext cx="224946" cy="534701"/>
            <a:chOff x="0" y="0"/>
            <a:chExt cx="59245" cy="14082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9245" cy="140827"/>
            </a:xfrm>
            <a:custGeom>
              <a:avLst/>
              <a:gdLst/>
              <a:ahLst/>
              <a:cxnLst/>
              <a:rect l="l" t="t" r="r" b="b"/>
              <a:pathLst>
                <a:path w="59245" h="140827">
                  <a:moveTo>
                    <a:pt x="0" y="0"/>
                  </a:moveTo>
                  <a:lnTo>
                    <a:pt x="59245" y="0"/>
                  </a:lnTo>
                  <a:lnTo>
                    <a:pt x="59245" y="140827"/>
                  </a:lnTo>
                  <a:lnTo>
                    <a:pt x="0" y="140827"/>
                  </a:lnTo>
                  <a:close/>
                </a:path>
              </a:pathLst>
            </a:custGeom>
            <a:solidFill>
              <a:srgbClr val="E1E4F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59245" cy="1979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6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96258" y="489099"/>
            <a:ext cx="1385913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59"/>
              </a:lnSpc>
              <a:spcBef>
                <a:spcPct val="0"/>
              </a:spcBef>
            </a:pPr>
            <a:r>
              <a:rPr lang="en-US" sz="1399">
                <a:solidFill>
                  <a:srgbClr val="1F2020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TEALEARN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3429" y="1104900"/>
            <a:ext cx="5099774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60"/>
              </a:lnSpc>
            </a:pPr>
            <a:r>
              <a:rPr lang="en-US" sz="4000" b="1" dirty="0" smtClean="0">
                <a:solidFill>
                  <a:srgbClr val="2F3C81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ESCOPO ATUAL</a:t>
            </a:r>
            <a:endParaRPr lang="en-US" sz="4000" b="1" dirty="0">
              <a:solidFill>
                <a:srgbClr val="2F3C81"/>
              </a:solidFill>
              <a:latin typeface="TT Supermolot Neue Expanded Bold"/>
              <a:ea typeface="TT Supermolot Neue Expanded Bold"/>
              <a:cs typeface="TT Supermolot Neue Expanded Bold"/>
              <a:sym typeface="TT Supermolot Neue Expanded Bold"/>
            </a:endParaRPr>
          </a:p>
        </p:txBody>
      </p:sp>
      <p:grpSp>
        <p:nvGrpSpPr>
          <p:cNvPr id="23" name="Agrupar 22"/>
          <p:cNvGrpSpPr/>
          <p:nvPr/>
        </p:nvGrpSpPr>
        <p:grpSpPr>
          <a:xfrm>
            <a:off x="1546916" y="3009900"/>
            <a:ext cx="3352800" cy="2563743"/>
            <a:chOff x="1981200" y="2884556"/>
            <a:chExt cx="3352800" cy="2563743"/>
          </a:xfrm>
        </p:grpSpPr>
        <p:sp>
          <p:nvSpPr>
            <p:cNvPr id="22" name="Nuvem 21"/>
            <p:cNvSpPr/>
            <p:nvPr/>
          </p:nvSpPr>
          <p:spPr>
            <a:xfrm rot="599134">
              <a:off x="1981200" y="2884556"/>
              <a:ext cx="3352800" cy="2563743"/>
            </a:xfrm>
            <a:prstGeom prst="cloud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CaixaDeTexto 19"/>
            <p:cNvSpPr txBox="1"/>
            <p:nvPr/>
          </p:nvSpPr>
          <p:spPr>
            <a:xfrm>
              <a:off x="2482171" y="3695700"/>
              <a:ext cx="25146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4000" dirty="0" smtClean="0">
                  <a:solidFill>
                    <a:schemeClr val="bg1"/>
                  </a:solidFill>
                </a:rPr>
                <a:t>HUMANAS</a:t>
              </a:r>
              <a:endParaRPr lang="pt-BR" sz="4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4" name="Agrupar 23"/>
          <p:cNvGrpSpPr/>
          <p:nvPr/>
        </p:nvGrpSpPr>
        <p:grpSpPr>
          <a:xfrm>
            <a:off x="4419600" y="6863090"/>
            <a:ext cx="3352800" cy="2563743"/>
            <a:chOff x="1981200" y="2884556"/>
            <a:chExt cx="3352800" cy="2563743"/>
          </a:xfrm>
          <a:solidFill>
            <a:srgbClr val="00B050"/>
          </a:solidFill>
        </p:grpSpPr>
        <p:sp>
          <p:nvSpPr>
            <p:cNvPr id="25" name="Nuvem 24"/>
            <p:cNvSpPr/>
            <p:nvPr/>
          </p:nvSpPr>
          <p:spPr>
            <a:xfrm rot="599134">
              <a:off x="1981200" y="2884556"/>
              <a:ext cx="3352800" cy="2563743"/>
            </a:xfrm>
            <a:prstGeom prst="cloud">
              <a:avLst/>
            </a:prstGeom>
            <a:grpFill/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6" name="CaixaDeTexto 25"/>
            <p:cNvSpPr txBox="1"/>
            <p:nvPr/>
          </p:nvSpPr>
          <p:spPr>
            <a:xfrm>
              <a:off x="2152650" y="3705102"/>
              <a:ext cx="3009900" cy="70788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4000" dirty="0" smtClean="0">
                  <a:solidFill>
                    <a:schemeClr val="bg1"/>
                  </a:solidFill>
                </a:rPr>
                <a:t>PDF &amp; TEXTO</a:t>
              </a:r>
              <a:endParaRPr lang="pt-BR" sz="4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7" name="Agrupar 26"/>
          <p:cNvGrpSpPr/>
          <p:nvPr/>
        </p:nvGrpSpPr>
        <p:grpSpPr>
          <a:xfrm>
            <a:off x="8382000" y="3009899"/>
            <a:ext cx="3352800" cy="2563743"/>
            <a:chOff x="1981200" y="2884556"/>
            <a:chExt cx="3352800" cy="2563743"/>
          </a:xfrm>
          <a:solidFill>
            <a:srgbClr val="7030A0"/>
          </a:solidFill>
        </p:grpSpPr>
        <p:sp>
          <p:nvSpPr>
            <p:cNvPr id="28" name="Nuvem 27"/>
            <p:cNvSpPr/>
            <p:nvPr/>
          </p:nvSpPr>
          <p:spPr>
            <a:xfrm rot="599134">
              <a:off x="1981200" y="2884556"/>
              <a:ext cx="3352800" cy="2563743"/>
            </a:xfrm>
            <a:prstGeom prst="cloud">
              <a:avLst/>
            </a:prstGeom>
            <a:grpFill/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9" name="CaixaDeTexto 28"/>
            <p:cNvSpPr txBox="1"/>
            <p:nvPr/>
          </p:nvSpPr>
          <p:spPr>
            <a:xfrm>
              <a:off x="2400300" y="3705103"/>
              <a:ext cx="2514600" cy="70788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4000" dirty="0" smtClean="0">
                  <a:solidFill>
                    <a:schemeClr val="bg1"/>
                  </a:solidFill>
                </a:rPr>
                <a:t>NÍVEL 1</a:t>
              </a:r>
              <a:endParaRPr lang="pt-BR" sz="4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0" name="Agrupar 29"/>
          <p:cNvGrpSpPr/>
          <p:nvPr/>
        </p:nvGrpSpPr>
        <p:grpSpPr>
          <a:xfrm>
            <a:off x="12420600" y="6863089"/>
            <a:ext cx="3352800" cy="2563743"/>
            <a:chOff x="1981200" y="2884556"/>
            <a:chExt cx="3352800" cy="2563743"/>
          </a:xfrm>
          <a:solidFill>
            <a:srgbClr val="FF0000"/>
          </a:solidFill>
        </p:grpSpPr>
        <p:sp>
          <p:nvSpPr>
            <p:cNvPr id="31" name="Nuvem 30"/>
            <p:cNvSpPr/>
            <p:nvPr/>
          </p:nvSpPr>
          <p:spPr>
            <a:xfrm rot="599134">
              <a:off x="1981200" y="2884556"/>
              <a:ext cx="3352800" cy="2563743"/>
            </a:xfrm>
            <a:prstGeom prst="cloud">
              <a:avLst/>
            </a:prstGeom>
            <a:grpFill/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CaixaDeTexto 31"/>
            <p:cNvSpPr txBox="1"/>
            <p:nvPr/>
          </p:nvSpPr>
          <p:spPr>
            <a:xfrm>
              <a:off x="2400300" y="3705103"/>
              <a:ext cx="2514600" cy="70788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4000" dirty="0" smtClean="0">
                  <a:solidFill>
                    <a:schemeClr val="bg1"/>
                  </a:solidFill>
                </a:rPr>
                <a:t>ADDI</a:t>
              </a:r>
              <a:endParaRPr lang="pt-BR" sz="4000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259300" y="479195"/>
            <a:ext cx="422866" cy="244494"/>
          </a:xfrm>
          <a:custGeom>
            <a:avLst/>
            <a:gdLst/>
            <a:ahLst/>
            <a:cxnLst/>
            <a:rect l="l" t="t" r="r" b="b"/>
            <a:pathLst>
              <a:path w="422866" h="244494">
                <a:moveTo>
                  <a:pt x="0" y="0"/>
                </a:moveTo>
                <a:lnTo>
                  <a:pt x="422866" y="0"/>
                </a:lnTo>
                <a:lnTo>
                  <a:pt x="422866" y="244493"/>
                </a:lnTo>
                <a:lnTo>
                  <a:pt x="0" y="2444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73429" y="479195"/>
            <a:ext cx="274427" cy="260019"/>
          </a:xfrm>
          <a:custGeom>
            <a:avLst/>
            <a:gdLst/>
            <a:ahLst/>
            <a:cxnLst/>
            <a:rect l="l" t="t" r="r" b="b"/>
            <a:pathLst>
              <a:path w="274427" h="260019">
                <a:moveTo>
                  <a:pt x="0" y="0"/>
                </a:moveTo>
                <a:lnTo>
                  <a:pt x="274427" y="0"/>
                </a:lnTo>
                <a:lnTo>
                  <a:pt x="274427" y="260019"/>
                </a:lnTo>
                <a:lnTo>
                  <a:pt x="0" y="2600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8063054" y="8723599"/>
            <a:ext cx="224946" cy="534701"/>
            <a:chOff x="0" y="0"/>
            <a:chExt cx="59245" cy="14082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9245" cy="140827"/>
            </a:xfrm>
            <a:custGeom>
              <a:avLst/>
              <a:gdLst/>
              <a:ahLst/>
              <a:cxnLst/>
              <a:rect l="l" t="t" r="r" b="b"/>
              <a:pathLst>
                <a:path w="59245" h="140827">
                  <a:moveTo>
                    <a:pt x="0" y="0"/>
                  </a:moveTo>
                  <a:lnTo>
                    <a:pt x="59245" y="0"/>
                  </a:lnTo>
                  <a:lnTo>
                    <a:pt x="59245" y="140827"/>
                  </a:lnTo>
                  <a:lnTo>
                    <a:pt x="0" y="140827"/>
                  </a:lnTo>
                  <a:close/>
                </a:path>
              </a:pathLst>
            </a:custGeom>
            <a:solidFill>
              <a:srgbClr val="2F3C81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59245" cy="1979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6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8063054" y="8188899"/>
            <a:ext cx="224946" cy="534701"/>
            <a:chOff x="0" y="0"/>
            <a:chExt cx="59245" cy="14082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9245" cy="140827"/>
            </a:xfrm>
            <a:custGeom>
              <a:avLst/>
              <a:gdLst/>
              <a:ahLst/>
              <a:cxnLst/>
              <a:rect l="l" t="t" r="r" b="b"/>
              <a:pathLst>
                <a:path w="59245" h="140827">
                  <a:moveTo>
                    <a:pt x="0" y="0"/>
                  </a:moveTo>
                  <a:lnTo>
                    <a:pt x="59245" y="0"/>
                  </a:lnTo>
                  <a:lnTo>
                    <a:pt x="59245" y="140827"/>
                  </a:lnTo>
                  <a:lnTo>
                    <a:pt x="0" y="140827"/>
                  </a:lnTo>
                  <a:close/>
                </a:path>
              </a:pathLst>
            </a:custGeom>
            <a:solidFill>
              <a:srgbClr val="E1E4F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59245" cy="1979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6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96258" y="489099"/>
            <a:ext cx="1385913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59"/>
              </a:lnSpc>
              <a:spcBef>
                <a:spcPct val="0"/>
              </a:spcBef>
            </a:pPr>
            <a:r>
              <a:rPr lang="en-US" sz="1399">
                <a:solidFill>
                  <a:srgbClr val="1F2020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TEALEARN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40447" y="1028700"/>
            <a:ext cx="5099774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60"/>
              </a:lnSpc>
            </a:pPr>
            <a:r>
              <a:rPr lang="en-US" sz="4000" b="1" dirty="0" smtClean="0">
                <a:solidFill>
                  <a:srgbClr val="2F3C81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CONVERSÃO</a:t>
            </a:r>
            <a:endParaRPr lang="en-US" sz="4000" b="1" dirty="0">
              <a:solidFill>
                <a:srgbClr val="2F3C81"/>
              </a:solidFill>
              <a:latin typeface="TT Supermolot Neue Expanded Bold"/>
              <a:ea typeface="TT Supermolot Neue Expanded Bold"/>
              <a:cs typeface="TT Supermolot Neue Expanded Bold"/>
              <a:sym typeface="TT Supermolot Neue Expanded Bold"/>
            </a:endParaRPr>
          </a:p>
        </p:txBody>
      </p:sp>
      <p:pic>
        <p:nvPicPr>
          <p:cNvPr id="17" name="Imagem 16"/>
          <p:cNvPicPr/>
          <p:nvPr/>
        </p:nvPicPr>
        <p:blipFill>
          <a:blip r:embed="rId6"/>
          <a:stretch>
            <a:fillRect/>
          </a:stretch>
        </p:blipFill>
        <p:spPr>
          <a:xfrm>
            <a:off x="4876800" y="1397306"/>
            <a:ext cx="11366171" cy="7324636"/>
          </a:xfrm>
          <a:prstGeom prst="rect">
            <a:avLst/>
          </a:prstGeom>
        </p:spPr>
      </p:pic>
      <p:sp>
        <p:nvSpPr>
          <p:cNvPr id="18" name="CaixaDeTexto 17"/>
          <p:cNvSpPr txBox="1"/>
          <p:nvPr/>
        </p:nvSpPr>
        <p:spPr>
          <a:xfrm>
            <a:off x="10210800" y="8796635"/>
            <a:ext cx="208422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400" dirty="0" smtClean="0">
                <a:solidFill>
                  <a:srgbClr val="00B0F0"/>
                </a:solidFill>
              </a:rPr>
              <a:t>A</a:t>
            </a:r>
            <a:r>
              <a:rPr lang="pt-BR" sz="5400" dirty="0" smtClean="0"/>
              <a:t> </a:t>
            </a:r>
            <a:r>
              <a:rPr lang="pt-BR" sz="5400" dirty="0" smtClean="0">
                <a:solidFill>
                  <a:srgbClr val="00B050"/>
                </a:solidFill>
              </a:rPr>
              <a:t>D</a:t>
            </a:r>
            <a:r>
              <a:rPr lang="pt-BR" sz="5400" dirty="0" smtClean="0"/>
              <a:t> </a:t>
            </a:r>
            <a:r>
              <a:rPr lang="pt-BR" sz="5400" dirty="0" err="1" smtClean="0">
                <a:solidFill>
                  <a:srgbClr val="00B0F0"/>
                </a:solidFill>
              </a:rPr>
              <a:t>D</a:t>
            </a:r>
            <a:r>
              <a:rPr lang="pt-BR" sz="5400" dirty="0" smtClean="0"/>
              <a:t> </a:t>
            </a:r>
            <a:r>
              <a:rPr lang="pt-BR" sz="5400" dirty="0" smtClean="0">
                <a:solidFill>
                  <a:schemeClr val="accent2"/>
                </a:solidFill>
              </a:rPr>
              <a:t>I</a:t>
            </a:r>
            <a:endParaRPr lang="pt-BR" sz="5400" dirty="0">
              <a:solidFill>
                <a:srgbClr val="00B0F0"/>
              </a:solidFill>
            </a:endParaRPr>
          </a:p>
        </p:txBody>
      </p:sp>
      <p:sp>
        <p:nvSpPr>
          <p:cNvPr id="23" name="CaixaDeTexto 22"/>
          <p:cNvSpPr txBox="1"/>
          <p:nvPr/>
        </p:nvSpPr>
        <p:spPr>
          <a:xfrm>
            <a:off x="12649200" y="8935134"/>
            <a:ext cx="18549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 smtClean="0"/>
              <a:t>Agindo...</a:t>
            </a: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100789553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6" presetClass="emph" presetSubtype="0" repeatCount="indefinite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25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3" grpId="0"/>
      <p:bldP spid="23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8"/>
          <p:cNvPicPr/>
          <p:nvPr/>
        </p:nvPicPr>
        <p:blipFill>
          <a:blip r:embed="rId2"/>
          <a:stretch>
            <a:fillRect/>
          </a:stretch>
        </p:blipFill>
        <p:spPr>
          <a:xfrm>
            <a:off x="4917453" y="1695799"/>
            <a:ext cx="11366171" cy="7218129"/>
          </a:xfrm>
          <a:prstGeom prst="rect">
            <a:avLst/>
          </a:prstGeom>
        </p:spPr>
      </p:pic>
      <p:sp>
        <p:nvSpPr>
          <p:cNvPr id="2" name="Freeform 2"/>
          <p:cNvSpPr/>
          <p:nvPr/>
        </p:nvSpPr>
        <p:spPr>
          <a:xfrm>
            <a:off x="17259300" y="479195"/>
            <a:ext cx="422866" cy="244494"/>
          </a:xfrm>
          <a:custGeom>
            <a:avLst/>
            <a:gdLst/>
            <a:ahLst/>
            <a:cxnLst/>
            <a:rect l="l" t="t" r="r" b="b"/>
            <a:pathLst>
              <a:path w="422866" h="244494">
                <a:moveTo>
                  <a:pt x="0" y="0"/>
                </a:moveTo>
                <a:lnTo>
                  <a:pt x="422866" y="0"/>
                </a:lnTo>
                <a:lnTo>
                  <a:pt x="422866" y="244493"/>
                </a:lnTo>
                <a:lnTo>
                  <a:pt x="0" y="2444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73429" y="479195"/>
            <a:ext cx="274427" cy="260019"/>
          </a:xfrm>
          <a:custGeom>
            <a:avLst/>
            <a:gdLst/>
            <a:ahLst/>
            <a:cxnLst/>
            <a:rect l="l" t="t" r="r" b="b"/>
            <a:pathLst>
              <a:path w="274427" h="260019">
                <a:moveTo>
                  <a:pt x="0" y="0"/>
                </a:moveTo>
                <a:lnTo>
                  <a:pt x="274427" y="0"/>
                </a:lnTo>
                <a:lnTo>
                  <a:pt x="274427" y="260019"/>
                </a:lnTo>
                <a:lnTo>
                  <a:pt x="0" y="2600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8063054" y="8723599"/>
            <a:ext cx="224946" cy="534701"/>
            <a:chOff x="0" y="0"/>
            <a:chExt cx="59245" cy="14082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9245" cy="140827"/>
            </a:xfrm>
            <a:custGeom>
              <a:avLst/>
              <a:gdLst/>
              <a:ahLst/>
              <a:cxnLst/>
              <a:rect l="l" t="t" r="r" b="b"/>
              <a:pathLst>
                <a:path w="59245" h="140827">
                  <a:moveTo>
                    <a:pt x="0" y="0"/>
                  </a:moveTo>
                  <a:lnTo>
                    <a:pt x="59245" y="0"/>
                  </a:lnTo>
                  <a:lnTo>
                    <a:pt x="59245" y="140827"/>
                  </a:lnTo>
                  <a:lnTo>
                    <a:pt x="0" y="140827"/>
                  </a:lnTo>
                  <a:close/>
                </a:path>
              </a:pathLst>
            </a:custGeom>
            <a:solidFill>
              <a:srgbClr val="2F3C81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59245" cy="1979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6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8063054" y="8188899"/>
            <a:ext cx="224946" cy="534701"/>
            <a:chOff x="0" y="0"/>
            <a:chExt cx="59245" cy="14082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9245" cy="140827"/>
            </a:xfrm>
            <a:custGeom>
              <a:avLst/>
              <a:gdLst/>
              <a:ahLst/>
              <a:cxnLst/>
              <a:rect l="l" t="t" r="r" b="b"/>
              <a:pathLst>
                <a:path w="59245" h="140827">
                  <a:moveTo>
                    <a:pt x="0" y="0"/>
                  </a:moveTo>
                  <a:lnTo>
                    <a:pt x="59245" y="0"/>
                  </a:lnTo>
                  <a:lnTo>
                    <a:pt x="59245" y="140827"/>
                  </a:lnTo>
                  <a:lnTo>
                    <a:pt x="0" y="140827"/>
                  </a:lnTo>
                  <a:close/>
                </a:path>
              </a:pathLst>
            </a:custGeom>
            <a:solidFill>
              <a:srgbClr val="E1E4F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59245" cy="1979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6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96258" y="489099"/>
            <a:ext cx="1385913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59"/>
              </a:lnSpc>
              <a:spcBef>
                <a:spcPct val="0"/>
              </a:spcBef>
            </a:pPr>
            <a:r>
              <a:rPr lang="en-US" sz="1399">
                <a:solidFill>
                  <a:srgbClr val="1F2020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TEALEARN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40447" y="1028700"/>
            <a:ext cx="5099774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60"/>
              </a:lnSpc>
            </a:pPr>
            <a:r>
              <a:rPr lang="en-US" sz="4000" b="1" dirty="0" smtClean="0">
                <a:solidFill>
                  <a:srgbClr val="2F3C81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CONVERSÃO</a:t>
            </a:r>
            <a:endParaRPr lang="en-US" sz="4000" b="1" dirty="0">
              <a:solidFill>
                <a:srgbClr val="2F3C81"/>
              </a:solidFill>
              <a:latin typeface="TT Supermolot Neue Expanded Bold"/>
              <a:ea typeface="TT Supermolot Neue Expanded Bold"/>
              <a:cs typeface="TT Supermolot Neue Expanded Bold"/>
              <a:sym typeface="TT Supermolot Neue Expanded Bold"/>
            </a:endParaRPr>
          </a:p>
        </p:txBody>
      </p:sp>
      <p:sp>
        <p:nvSpPr>
          <p:cNvPr id="18" name="CaixaDeTexto 17"/>
          <p:cNvSpPr txBox="1"/>
          <p:nvPr/>
        </p:nvSpPr>
        <p:spPr>
          <a:xfrm>
            <a:off x="10210800" y="8796635"/>
            <a:ext cx="208422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400" dirty="0" smtClean="0">
                <a:solidFill>
                  <a:srgbClr val="00B0F0"/>
                </a:solidFill>
              </a:rPr>
              <a:t>A</a:t>
            </a:r>
            <a:r>
              <a:rPr lang="pt-BR" sz="5400" dirty="0" smtClean="0"/>
              <a:t> </a:t>
            </a:r>
            <a:r>
              <a:rPr lang="pt-BR" sz="5400" dirty="0" smtClean="0">
                <a:solidFill>
                  <a:srgbClr val="00B050"/>
                </a:solidFill>
              </a:rPr>
              <a:t>D</a:t>
            </a:r>
            <a:r>
              <a:rPr lang="pt-BR" sz="5400" dirty="0" smtClean="0"/>
              <a:t> </a:t>
            </a:r>
            <a:r>
              <a:rPr lang="pt-BR" sz="5400" dirty="0" err="1" smtClean="0">
                <a:solidFill>
                  <a:srgbClr val="00B0F0"/>
                </a:solidFill>
              </a:rPr>
              <a:t>D</a:t>
            </a:r>
            <a:r>
              <a:rPr lang="pt-BR" sz="5400" dirty="0" smtClean="0"/>
              <a:t> </a:t>
            </a:r>
            <a:r>
              <a:rPr lang="pt-BR" sz="5400" dirty="0" smtClean="0">
                <a:solidFill>
                  <a:schemeClr val="accent2"/>
                </a:solidFill>
              </a:rPr>
              <a:t>I</a:t>
            </a:r>
            <a:endParaRPr lang="pt-BR" sz="5400" dirty="0">
              <a:solidFill>
                <a:srgbClr val="00B0F0"/>
              </a:solidFill>
            </a:endParaRPr>
          </a:p>
        </p:txBody>
      </p:sp>
      <p:sp>
        <p:nvSpPr>
          <p:cNvPr id="23" name="CaixaDeTexto 22"/>
          <p:cNvSpPr txBox="1"/>
          <p:nvPr/>
        </p:nvSpPr>
        <p:spPr>
          <a:xfrm>
            <a:off x="12649200" y="8935134"/>
            <a:ext cx="18549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 smtClean="0"/>
              <a:t>Agindo...</a:t>
            </a: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49219301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6" presetClass="emph" presetSubtype="0" repeatCount="indefinite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25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3" grpId="0"/>
      <p:bldP spid="23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m 16"/>
          <p:cNvPicPr/>
          <p:nvPr/>
        </p:nvPicPr>
        <p:blipFill>
          <a:blip r:embed="rId2"/>
          <a:stretch>
            <a:fillRect/>
          </a:stretch>
        </p:blipFill>
        <p:spPr>
          <a:xfrm>
            <a:off x="4920767" y="1551853"/>
            <a:ext cx="11362858" cy="7206533"/>
          </a:xfrm>
          <a:prstGeom prst="rect">
            <a:avLst/>
          </a:prstGeom>
        </p:spPr>
      </p:pic>
      <p:sp>
        <p:nvSpPr>
          <p:cNvPr id="2" name="Freeform 2"/>
          <p:cNvSpPr/>
          <p:nvPr/>
        </p:nvSpPr>
        <p:spPr>
          <a:xfrm>
            <a:off x="17259300" y="479195"/>
            <a:ext cx="422866" cy="244494"/>
          </a:xfrm>
          <a:custGeom>
            <a:avLst/>
            <a:gdLst/>
            <a:ahLst/>
            <a:cxnLst/>
            <a:rect l="l" t="t" r="r" b="b"/>
            <a:pathLst>
              <a:path w="422866" h="244494">
                <a:moveTo>
                  <a:pt x="0" y="0"/>
                </a:moveTo>
                <a:lnTo>
                  <a:pt x="422866" y="0"/>
                </a:lnTo>
                <a:lnTo>
                  <a:pt x="422866" y="244493"/>
                </a:lnTo>
                <a:lnTo>
                  <a:pt x="0" y="2444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73429" y="479195"/>
            <a:ext cx="274427" cy="260019"/>
          </a:xfrm>
          <a:custGeom>
            <a:avLst/>
            <a:gdLst/>
            <a:ahLst/>
            <a:cxnLst/>
            <a:rect l="l" t="t" r="r" b="b"/>
            <a:pathLst>
              <a:path w="274427" h="260019">
                <a:moveTo>
                  <a:pt x="0" y="0"/>
                </a:moveTo>
                <a:lnTo>
                  <a:pt x="274427" y="0"/>
                </a:lnTo>
                <a:lnTo>
                  <a:pt x="274427" y="260019"/>
                </a:lnTo>
                <a:lnTo>
                  <a:pt x="0" y="2600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8063054" y="8723599"/>
            <a:ext cx="224946" cy="534701"/>
            <a:chOff x="0" y="0"/>
            <a:chExt cx="59245" cy="14082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9245" cy="140827"/>
            </a:xfrm>
            <a:custGeom>
              <a:avLst/>
              <a:gdLst/>
              <a:ahLst/>
              <a:cxnLst/>
              <a:rect l="l" t="t" r="r" b="b"/>
              <a:pathLst>
                <a:path w="59245" h="140827">
                  <a:moveTo>
                    <a:pt x="0" y="0"/>
                  </a:moveTo>
                  <a:lnTo>
                    <a:pt x="59245" y="0"/>
                  </a:lnTo>
                  <a:lnTo>
                    <a:pt x="59245" y="140827"/>
                  </a:lnTo>
                  <a:lnTo>
                    <a:pt x="0" y="140827"/>
                  </a:lnTo>
                  <a:close/>
                </a:path>
              </a:pathLst>
            </a:custGeom>
            <a:solidFill>
              <a:srgbClr val="2F3C81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59245" cy="1979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6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8063054" y="8188899"/>
            <a:ext cx="224946" cy="534701"/>
            <a:chOff x="0" y="0"/>
            <a:chExt cx="59245" cy="14082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9245" cy="140827"/>
            </a:xfrm>
            <a:custGeom>
              <a:avLst/>
              <a:gdLst/>
              <a:ahLst/>
              <a:cxnLst/>
              <a:rect l="l" t="t" r="r" b="b"/>
              <a:pathLst>
                <a:path w="59245" h="140827">
                  <a:moveTo>
                    <a:pt x="0" y="0"/>
                  </a:moveTo>
                  <a:lnTo>
                    <a:pt x="59245" y="0"/>
                  </a:lnTo>
                  <a:lnTo>
                    <a:pt x="59245" y="140827"/>
                  </a:lnTo>
                  <a:lnTo>
                    <a:pt x="0" y="140827"/>
                  </a:lnTo>
                  <a:close/>
                </a:path>
              </a:pathLst>
            </a:custGeom>
            <a:solidFill>
              <a:srgbClr val="E1E4F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59245" cy="1979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6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96258" y="489099"/>
            <a:ext cx="1385913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59"/>
              </a:lnSpc>
              <a:spcBef>
                <a:spcPct val="0"/>
              </a:spcBef>
            </a:pPr>
            <a:r>
              <a:rPr lang="en-US" sz="1399">
                <a:solidFill>
                  <a:srgbClr val="1F2020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TEALEARN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40447" y="1028700"/>
            <a:ext cx="5099774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60"/>
              </a:lnSpc>
            </a:pPr>
            <a:r>
              <a:rPr lang="en-US" sz="4000" b="1" dirty="0" smtClean="0">
                <a:solidFill>
                  <a:srgbClr val="2F3C81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CONVERSÃO</a:t>
            </a:r>
            <a:endParaRPr lang="en-US" sz="4000" b="1" dirty="0">
              <a:solidFill>
                <a:srgbClr val="2F3C81"/>
              </a:solidFill>
              <a:latin typeface="TT Supermolot Neue Expanded Bold"/>
              <a:ea typeface="TT Supermolot Neue Expanded Bold"/>
              <a:cs typeface="TT Supermolot Neue Expanded Bold"/>
              <a:sym typeface="TT Supermolot Neue Expanded Bold"/>
            </a:endParaRPr>
          </a:p>
        </p:txBody>
      </p:sp>
      <p:sp>
        <p:nvSpPr>
          <p:cNvPr id="18" name="CaixaDeTexto 17"/>
          <p:cNvSpPr txBox="1"/>
          <p:nvPr/>
        </p:nvSpPr>
        <p:spPr>
          <a:xfrm>
            <a:off x="10210800" y="8796635"/>
            <a:ext cx="208422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400" dirty="0" smtClean="0">
                <a:solidFill>
                  <a:srgbClr val="00B0F0"/>
                </a:solidFill>
              </a:rPr>
              <a:t>A</a:t>
            </a:r>
            <a:r>
              <a:rPr lang="pt-BR" sz="5400" dirty="0" smtClean="0"/>
              <a:t> </a:t>
            </a:r>
            <a:r>
              <a:rPr lang="pt-BR" sz="5400" dirty="0" smtClean="0">
                <a:solidFill>
                  <a:srgbClr val="00B050"/>
                </a:solidFill>
              </a:rPr>
              <a:t>D</a:t>
            </a:r>
            <a:r>
              <a:rPr lang="pt-BR" sz="5400" dirty="0" smtClean="0"/>
              <a:t> </a:t>
            </a:r>
            <a:r>
              <a:rPr lang="pt-BR" sz="5400" dirty="0" err="1" smtClean="0">
                <a:solidFill>
                  <a:srgbClr val="00B0F0"/>
                </a:solidFill>
              </a:rPr>
              <a:t>D</a:t>
            </a:r>
            <a:r>
              <a:rPr lang="pt-BR" sz="5400" dirty="0" smtClean="0"/>
              <a:t> </a:t>
            </a:r>
            <a:r>
              <a:rPr lang="pt-BR" sz="5400" dirty="0" smtClean="0">
                <a:solidFill>
                  <a:schemeClr val="accent2"/>
                </a:solidFill>
              </a:rPr>
              <a:t>I</a:t>
            </a:r>
            <a:endParaRPr lang="pt-BR" sz="5400" dirty="0">
              <a:solidFill>
                <a:srgbClr val="00B0F0"/>
              </a:solidFill>
            </a:endParaRPr>
          </a:p>
        </p:txBody>
      </p:sp>
      <p:sp>
        <p:nvSpPr>
          <p:cNvPr id="23" name="CaixaDeTexto 22"/>
          <p:cNvSpPr txBox="1"/>
          <p:nvPr/>
        </p:nvSpPr>
        <p:spPr>
          <a:xfrm>
            <a:off x="12649200" y="8935134"/>
            <a:ext cx="18549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 smtClean="0"/>
              <a:t>Agindo...</a:t>
            </a: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89870696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6" presetClass="emph" presetSubtype="0" repeatCount="indefinite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25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3" grpId="0"/>
      <p:bldP spid="23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673429" y="479195"/>
            <a:ext cx="274427" cy="260019"/>
          </a:xfrm>
          <a:custGeom>
            <a:avLst/>
            <a:gdLst/>
            <a:ahLst/>
            <a:cxnLst/>
            <a:rect l="l" t="t" r="r" b="b"/>
            <a:pathLst>
              <a:path w="274427" h="260019">
                <a:moveTo>
                  <a:pt x="0" y="0"/>
                </a:moveTo>
                <a:lnTo>
                  <a:pt x="274427" y="0"/>
                </a:lnTo>
                <a:lnTo>
                  <a:pt x="274427" y="260019"/>
                </a:lnTo>
                <a:lnTo>
                  <a:pt x="0" y="260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096258" y="489099"/>
            <a:ext cx="1385913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59"/>
              </a:lnSpc>
              <a:spcBef>
                <a:spcPct val="0"/>
              </a:spcBef>
            </a:pPr>
            <a:r>
              <a:rPr lang="en-US" sz="1399">
                <a:solidFill>
                  <a:srgbClr val="1F2020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TEALEARN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40446" y="1028700"/>
            <a:ext cx="8427353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760"/>
              </a:lnSpc>
            </a:pPr>
            <a:r>
              <a:rPr lang="en-US" sz="4000" b="1" dirty="0" smtClean="0">
                <a:solidFill>
                  <a:srgbClr val="2F3C81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CONVERSÃO </a:t>
            </a:r>
            <a:r>
              <a:rPr lang="en-US" sz="4000" b="1" dirty="0" smtClean="0">
                <a:solidFill>
                  <a:srgbClr val="2F3C81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&amp; </a:t>
            </a:r>
            <a:r>
              <a:rPr lang="en-US" sz="4000" b="1" dirty="0" smtClean="0">
                <a:solidFill>
                  <a:srgbClr val="2F3C81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DOWNLOAD</a:t>
            </a:r>
            <a:endParaRPr lang="en-US" sz="4000" b="1" dirty="0">
              <a:solidFill>
                <a:srgbClr val="2F3C81"/>
              </a:solidFill>
              <a:latin typeface="TT Supermolot Neue Expanded Bold"/>
              <a:ea typeface="TT Supermolot Neue Expanded Bold"/>
              <a:cs typeface="TT Supermolot Neue Expanded Bold"/>
              <a:sym typeface="TT Supermolot Neue Expanded Bold"/>
            </a:endParaRPr>
          </a:p>
        </p:txBody>
      </p:sp>
      <p:pic>
        <p:nvPicPr>
          <p:cNvPr id="18" name="Imagem 17"/>
          <p:cNvPicPr/>
          <p:nvPr/>
        </p:nvPicPr>
        <p:blipFill>
          <a:blip r:embed="rId6"/>
          <a:stretch>
            <a:fillRect/>
          </a:stretch>
        </p:blipFill>
        <p:spPr>
          <a:xfrm>
            <a:off x="8686800" y="-8283"/>
            <a:ext cx="9601200" cy="10295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79124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673429" y="479195"/>
            <a:ext cx="274427" cy="260019"/>
          </a:xfrm>
          <a:custGeom>
            <a:avLst/>
            <a:gdLst/>
            <a:ahLst/>
            <a:cxnLst/>
            <a:rect l="l" t="t" r="r" b="b"/>
            <a:pathLst>
              <a:path w="274427" h="260019">
                <a:moveTo>
                  <a:pt x="0" y="0"/>
                </a:moveTo>
                <a:lnTo>
                  <a:pt x="274427" y="0"/>
                </a:lnTo>
                <a:lnTo>
                  <a:pt x="274427" y="260019"/>
                </a:lnTo>
                <a:lnTo>
                  <a:pt x="0" y="260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096258" y="489099"/>
            <a:ext cx="1385913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59"/>
              </a:lnSpc>
              <a:spcBef>
                <a:spcPct val="0"/>
              </a:spcBef>
            </a:pPr>
            <a:r>
              <a:rPr lang="en-US" sz="1399">
                <a:solidFill>
                  <a:srgbClr val="1F2020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TEALEARN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40446" y="1028700"/>
            <a:ext cx="8427353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760"/>
              </a:lnSpc>
            </a:pPr>
            <a:r>
              <a:rPr lang="en-US" sz="4000" b="1" dirty="0" smtClean="0">
                <a:solidFill>
                  <a:srgbClr val="2F3C81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CONVERSÃO &amp; DOWNLOAD</a:t>
            </a:r>
            <a:endParaRPr lang="en-US" sz="4000" b="1" dirty="0">
              <a:solidFill>
                <a:srgbClr val="2F3C81"/>
              </a:solidFill>
              <a:latin typeface="TT Supermolot Neue Expanded Bold"/>
              <a:ea typeface="TT Supermolot Neue Expanded Bold"/>
              <a:cs typeface="TT Supermolot Neue Expanded Bold"/>
              <a:sym typeface="TT Supermolot Neue Expanded Bold"/>
            </a:endParaRPr>
          </a:p>
        </p:txBody>
      </p:sp>
      <p:pic>
        <p:nvPicPr>
          <p:cNvPr id="6" name="Imagem 5"/>
          <p:cNvPicPr/>
          <p:nvPr/>
        </p:nvPicPr>
        <p:blipFill>
          <a:blip r:embed="rId6"/>
          <a:stretch>
            <a:fillRect/>
          </a:stretch>
        </p:blipFill>
        <p:spPr>
          <a:xfrm>
            <a:off x="8696738" y="0"/>
            <a:ext cx="9601201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94994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673429" y="479195"/>
            <a:ext cx="274427" cy="260019"/>
          </a:xfrm>
          <a:custGeom>
            <a:avLst/>
            <a:gdLst/>
            <a:ahLst/>
            <a:cxnLst/>
            <a:rect l="l" t="t" r="r" b="b"/>
            <a:pathLst>
              <a:path w="274427" h="260019">
                <a:moveTo>
                  <a:pt x="0" y="0"/>
                </a:moveTo>
                <a:lnTo>
                  <a:pt x="274427" y="0"/>
                </a:lnTo>
                <a:lnTo>
                  <a:pt x="274427" y="260019"/>
                </a:lnTo>
                <a:lnTo>
                  <a:pt x="0" y="260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096258" y="489099"/>
            <a:ext cx="1385913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59"/>
              </a:lnSpc>
              <a:spcBef>
                <a:spcPct val="0"/>
              </a:spcBef>
            </a:pPr>
            <a:r>
              <a:rPr lang="en-US" sz="1399">
                <a:solidFill>
                  <a:srgbClr val="1F2020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TEALEARN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40446" y="1028700"/>
            <a:ext cx="8427353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760"/>
              </a:lnSpc>
            </a:pPr>
            <a:r>
              <a:rPr lang="en-US" sz="4000" b="1" dirty="0" smtClean="0">
                <a:solidFill>
                  <a:srgbClr val="2F3C81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CONVERSÃO &amp; DOWNLOAD</a:t>
            </a:r>
            <a:endParaRPr lang="en-US" sz="4000" b="1" dirty="0">
              <a:solidFill>
                <a:srgbClr val="2F3C81"/>
              </a:solidFill>
              <a:latin typeface="TT Supermolot Neue Expanded Bold"/>
              <a:ea typeface="TT Supermolot Neue Expanded Bold"/>
              <a:cs typeface="TT Supermolot Neue Expanded Bold"/>
              <a:sym typeface="TT Supermolot Neue Expanded Bold"/>
            </a:endParaRPr>
          </a:p>
        </p:txBody>
      </p:sp>
      <p:pic>
        <p:nvPicPr>
          <p:cNvPr id="7" name="Imagem 6"/>
          <p:cNvPicPr/>
          <p:nvPr/>
        </p:nvPicPr>
        <p:blipFill>
          <a:blip r:embed="rId6"/>
          <a:stretch>
            <a:fillRect/>
          </a:stretch>
        </p:blipFill>
        <p:spPr>
          <a:xfrm>
            <a:off x="8686799" y="0"/>
            <a:ext cx="9601201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15268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259300" y="479195"/>
            <a:ext cx="422866" cy="244494"/>
          </a:xfrm>
          <a:custGeom>
            <a:avLst/>
            <a:gdLst/>
            <a:ahLst/>
            <a:cxnLst/>
            <a:rect l="l" t="t" r="r" b="b"/>
            <a:pathLst>
              <a:path w="422866" h="244494">
                <a:moveTo>
                  <a:pt x="0" y="0"/>
                </a:moveTo>
                <a:lnTo>
                  <a:pt x="422866" y="0"/>
                </a:lnTo>
                <a:lnTo>
                  <a:pt x="422866" y="244493"/>
                </a:lnTo>
                <a:lnTo>
                  <a:pt x="0" y="2444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73429" y="479195"/>
            <a:ext cx="274427" cy="260019"/>
          </a:xfrm>
          <a:custGeom>
            <a:avLst/>
            <a:gdLst/>
            <a:ahLst/>
            <a:cxnLst/>
            <a:rect l="l" t="t" r="r" b="b"/>
            <a:pathLst>
              <a:path w="274427" h="260019">
                <a:moveTo>
                  <a:pt x="0" y="0"/>
                </a:moveTo>
                <a:lnTo>
                  <a:pt x="274427" y="0"/>
                </a:lnTo>
                <a:lnTo>
                  <a:pt x="274427" y="260019"/>
                </a:lnTo>
                <a:lnTo>
                  <a:pt x="0" y="2600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8063054" y="8723599"/>
            <a:ext cx="224946" cy="534701"/>
            <a:chOff x="0" y="0"/>
            <a:chExt cx="59245" cy="14082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9245" cy="140827"/>
            </a:xfrm>
            <a:custGeom>
              <a:avLst/>
              <a:gdLst/>
              <a:ahLst/>
              <a:cxnLst/>
              <a:rect l="l" t="t" r="r" b="b"/>
              <a:pathLst>
                <a:path w="59245" h="140827">
                  <a:moveTo>
                    <a:pt x="0" y="0"/>
                  </a:moveTo>
                  <a:lnTo>
                    <a:pt x="59245" y="0"/>
                  </a:lnTo>
                  <a:lnTo>
                    <a:pt x="59245" y="140827"/>
                  </a:lnTo>
                  <a:lnTo>
                    <a:pt x="0" y="140827"/>
                  </a:lnTo>
                  <a:close/>
                </a:path>
              </a:pathLst>
            </a:custGeom>
            <a:solidFill>
              <a:srgbClr val="2F3C81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59245" cy="1979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6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8063054" y="8188899"/>
            <a:ext cx="224946" cy="534701"/>
            <a:chOff x="0" y="0"/>
            <a:chExt cx="59245" cy="14082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9245" cy="140827"/>
            </a:xfrm>
            <a:custGeom>
              <a:avLst/>
              <a:gdLst/>
              <a:ahLst/>
              <a:cxnLst/>
              <a:rect l="l" t="t" r="r" b="b"/>
              <a:pathLst>
                <a:path w="59245" h="140827">
                  <a:moveTo>
                    <a:pt x="0" y="0"/>
                  </a:moveTo>
                  <a:lnTo>
                    <a:pt x="59245" y="0"/>
                  </a:lnTo>
                  <a:lnTo>
                    <a:pt x="59245" y="140827"/>
                  </a:lnTo>
                  <a:lnTo>
                    <a:pt x="0" y="140827"/>
                  </a:lnTo>
                  <a:close/>
                </a:path>
              </a:pathLst>
            </a:custGeom>
            <a:solidFill>
              <a:srgbClr val="E1E4F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59245" cy="1979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6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090376" y="3193335"/>
            <a:ext cx="4034075" cy="4034075"/>
            <a:chOff x="0" y="0"/>
            <a:chExt cx="5378766" cy="5378766"/>
          </a:xfrm>
        </p:grpSpPr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0" y="0"/>
              <a:ext cx="5378766" cy="5378766"/>
            </a:xfrm>
            <a:prstGeom prst="rect">
              <a:avLst/>
            </a:prstGeom>
          </p:spPr>
        </p:pic>
      </p:grpSp>
      <p:sp>
        <p:nvSpPr>
          <p:cNvPr id="15" name="TextBox 15"/>
          <p:cNvSpPr txBox="1"/>
          <p:nvPr/>
        </p:nvSpPr>
        <p:spPr>
          <a:xfrm>
            <a:off x="1096258" y="489099"/>
            <a:ext cx="1385913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59"/>
              </a:lnSpc>
              <a:spcBef>
                <a:spcPct val="0"/>
              </a:spcBef>
            </a:pPr>
            <a:r>
              <a:rPr lang="en-US" sz="1399">
                <a:solidFill>
                  <a:srgbClr val="1F2020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TEALEARN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739653" y="7475060"/>
            <a:ext cx="2735520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59"/>
              </a:lnSpc>
              <a:spcBef>
                <a:spcPct val="0"/>
              </a:spcBef>
            </a:pPr>
            <a:r>
              <a:rPr lang="en-US" sz="1399" b="1">
                <a:solidFill>
                  <a:srgbClr val="2F3C8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Professores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110667" y="7925201"/>
            <a:ext cx="39934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9"/>
              </a:lnSpc>
              <a:spcBef>
                <a:spcPct val="0"/>
              </a:spcBef>
            </a:pPr>
            <a:r>
              <a:rPr lang="en-US" sz="1599" dirty="0" err="1" smtClean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Professores</a:t>
            </a:r>
            <a:r>
              <a:rPr lang="en-US" sz="1599" dirty="0" smtClean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da ETEC Professor Camargo </a:t>
            </a:r>
            <a:r>
              <a:rPr lang="en-US" sz="1599" dirty="0" err="1" smtClean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Aranha</a:t>
            </a:r>
            <a:endParaRPr lang="en-US" sz="1599" dirty="0">
              <a:solidFill>
                <a:srgbClr val="1F202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2357898" y="2976344"/>
            <a:ext cx="925970" cy="114296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lvl="0" indent="0" algn="ctr">
              <a:lnSpc>
                <a:spcPts val="3226"/>
              </a:lnSpc>
            </a:pPr>
            <a:r>
              <a:rPr lang="en-US" sz="2304" b="1" dirty="0" smtClean="0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1</a:t>
            </a:r>
            <a:endParaRPr lang="en-US" sz="2304" b="1" dirty="0">
              <a:solidFill>
                <a:srgbClr val="FFFFFF"/>
              </a:solidFill>
              <a:latin typeface="TT Supermolot Neue Expanded Bold"/>
              <a:ea typeface="TT Supermolot Neue Expanded Bold"/>
              <a:cs typeface="TT Supermolot Neue Expanded Bold"/>
              <a:sym typeface="TT Supermolot Neue Expanded Bold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5925553" y="1922426"/>
            <a:ext cx="6436894" cy="614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756"/>
              </a:lnSpc>
            </a:pPr>
            <a:r>
              <a:rPr lang="en-US" sz="4400" b="1" dirty="0">
                <a:solidFill>
                  <a:srgbClr val="2F3C81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PÚBLICO-ALVO</a:t>
            </a:r>
            <a:endParaRPr lang="en-US" sz="3997" b="1" dirty="0">
              <a:solidFill>
                <a:srgbClr val="2F3C81"/>
              </a:solidFill>
              <a:latin typeface="TT Supermolot Neue Expanded Bold"/>
              <a:ea typeface="TT Supermolot Neue Expanded Bold"/>
              <a:cs typeface="TT Supermolot Neue Expanded Bold"/>
              <a:sym typeface="TT Supermolot Neue Expanded Bold"/>
            </a:endParaRPr>
          </a:p>
        </p:txBody>
      </p:sp>
      <p:pic>
        <p:nvPicPr>
          <p:cNvPr id="27" name="Imagem 2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25241" y="3695700"/>
            <a:ext cx="2682301" cy="3359876"/>
          </a:xfrm>
          <a:prstGeom prst="rect">
            <a:avLst/>
          </a:prstGeom>
        </p:spPr>
      </p:pic>
      <p:grpSp>
        <p:nvGrpSpPr>
          <p:cNvPr id="21" name="Agrupar 20"/>
          <p:cNvGrpSpPr/>
          <p:nvPr/>
        </p:nvGrpSpPr>
        <p:grpSpPr>
          <a:xfrm>
            <a:off x="3276668" y="3475991"/>
            <a:ext cx="925970" cy="925970"/>
            <a:chOff x="3110667" y="1508773"/>
            <a:chExt cx="925970" cy="925970"/>
          </a:xfrm>
        </p:grpSpPr>
        <p:grpSp>
          <p:nvGrpSpPr>
            <p:cNvPr id="12" name="Group 12"/>
            <p:cNvGrpSpPr/>
            <p:nvPr/>
          </p:nvGrpSpPr>
          <p:grpSpPr>
            <a:xfrm>
              <a:off x="3110667" y="1508773"/>
              <a:ext cx="925970" cy="925970"/>
              <a:chOff x="0" y="0"/>
              <a:chExt cx="243877" cy="243877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43877" cy="243877"/>
              </a:xfrm>
              <a:custGeom>
                <a:avLst/>
                <a:gdLst/>
                <a:ahLst/>
                <a:cxnLst/>
                <a:rect l="l" t="t" r="r" b="b"/>
                <a:pathLst>
                  <a:path w="243877" h="243877">
                    <a:moveTo>
                      <a:pt x="0" y="0"/>
                    </a:moveTo>
                    <a:lnTo>
                      <a:pt x="243877" y="0"/>
                    </a:lnTo>
                    <a:lnTo>
                      <a:pt x="243877" y="243877"/>
                    </a:lnTo>
                    <a:lnTo>
                      <a:pt x="0" y="243877"/>
                    </a:lnTo>
                    <a:close/>
                  </a:path>
                </a:pathLst>
              </a:custGeom>
              <a:solidFill>
                <a:srgbClr val="2F3C81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57150"/>
                <a:ext cx="243877" cy="30102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3226"/>
                  </a:lnSpc>
                </a:pPr>
                <a:endParaRPr lang="en-US" sz="2304" b="1" dirty="0">
                  <a:solidFill>
                    <a:srgbClr val="FFFFFF"/>
                  </a:solidFill>
                  <a:latin typeface="TT Supermolot Neue Expanded Bold"/>
                  <a:ea typeface="TT Supermolot Neue Expanded Bold"/>
                  <a:cs typeface="TT Supermolot Neue Expanded Bold"/>
                  <a:sym typeface="TT Supermolot Neue Expanded Bold"/>
                </a:endParaRPr>
              </a:p>
            </p:txBody>
          </p:sp>
        </p:grpSp>
        <p:sp>
          <p:nvSpPr>
            <p:cNvPr id="20" name="Estrela de 7 Pontas 19"/>
            <p:cNvSpPr/>
            <p:nvPr/>
          </p:nvSpPr>
          <p:spPr>
            <a:xfrm>
              <a:off x="3306952" y="1686017"/>
              <a:ext cx="533400" cy="571481"/>
            </a:xfrm>
            <a:prstGeom prst="star7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35" name="Agrupar 34"/>
          <p:cNvGrpSpPr/>
          <p:nvPr/>
        </p:nvGrpSpPr>
        <p:grpSpPr>
          <a:xfrm>
            <a:off x="11658600" y="3475991"/>
            <a:ext cx="925970" cy="925970"/>
            <a:chOff x="3110667" y="1508773"/>
            <a:chExt cx="925970" cy="925970"/>
          </a:xfrm>
        </p:grpSpPr>
        <p:grpSp>
          <p:nvGrpSpPr>
            <p:cNvPr id="36" name="Group 12"/>
            <p:cNvGrpSpPr/>
            <p:nvPr/>
          </p:nvGrpSpPr>
          <p:grpSpPr>
            <a:xfrm>
              <a:off x="3110667" y="1508773"/>
              <a:ext cx="925970" cy="925970"/>
              <a:chOff x="0" y="0"/>
              <a:chExt cx="243877" cy="243877"/>
            </a:xfrm>
          </p:grpSpPr>
          <p:sp>
            <p:nvSpPr>
              <p:cNvPr id="38" name="Freeform 13"/>
              <p:cNvSpPr/>
              <p:nvPr/>
            </p:nvSpPr>
            <p:spPr>
              <a:xfrm>
                <a:off x="0" y="0"/>
                <a:ext cx="243877" cy="243877"/>
              </a:xfrm>
              <a:custGeom>
                <a:avLst/>
                <a:gdLst/>
                <a:ahLst/>
                <a:cxnLst/>
                <a:rect l="l" t="t" r="r" b="b"/>
                <a:pathLst>
                  <a:path w="243877" h="243877">
                    <a:moveTo>
                      <a:pt x="0" y="0"/>
                    </a:moveTo>
                    <a:lnTo>
                      <a:pt x="243877" y="0"/>
                    </a:lnTo>
                    <a:lnTo>
                      <a:pt x="243877" y="243877"/>
                    </a:lnTo>
                    <a:lnTo>
                      <a:pt x="0" y="243877"/>
                    </a:lnTo>
                    <a:close/>
                  </a:path>
                </a:pathLst>
              </a:custGeom>
              <a:solidFill>
                <a:srgbClr val="2F3C81"/>
              </a:solidFill>
            </p:spPr>
          </p:sp>
          <p:sp>
            <p:nvSpPr>
              <p:cNvPr id="39" name="TextBox 14"/>
              <p:cNvSpPr txBox="1"/>
              <p:nvPr/>
            </p:nvSpPr>
            <p:spPr>
              <a:xfrm>
                <a:off x="0" y="-57150"/>
                <a:ext cx="243877" cy="30102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3226"/>
                  </a:lnSpc>
                </a:pPr>
                <a:endParaRPr lang="en-US" sz="2304" b="1" dirty="0">
                  <a:solidFill>
                    <a:srgbClr val="FFFFFF"/>
                  </a:solidFill>
                  <a:latin typeface="TT Supermolot Neue Expanded Bold"/>
                  <a:ea typeface="TT Supermolot Neue Expanded Bold"/>
                  <a:cs typeface="TT Supermolot Neue Expanded Bold"/>
                  <a:sym typeface="TT Supermolot Neue Expanded Bold"/>
                </a:endParaRPr>
              </a:p>
            </p:txBody>
          </p:sp>
        </p:grpSp>
        <p:sp>
          <p:nvSpPr>
            <p:cNvPr id="37" name="Estrela de 7 Pontas 36"/>
            <p:cNvSpPr/>
            <p:nvPr/>
          </p:nvSpPr>
          <p:spPr>
            <a:xfrm>
              <a:off x="3306952" y="1686017"/>
              <a:ext cx="533400" cy="571481"/>
            </a:xfrm>
            <a:prstGeom prst="star7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40" name="TextBox 17"/>
          <p:cNvSpPr txBox="1"/>
          <p:nvPr/>
        </p:nvSpPr>
        <p:spPr>
          <a:xfrm>
            <a:off x="11630297" y="7919206"/>
            <a:ext cx="39934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9"/>
              </a:lnSpc>
              <a:spcBef>
                <a:spcPct val="0"/>
              </a:spcBef>
            </a:pPr>
            <a:r>
              <a:rPr lang="en-US" sz="1599" dirty="0" err="1" smtClean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Alunos</a:t>
            </a:r>
            <a:r>
              <a:rPr lang="en-US" sz="1599" dirty="0" smtClean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com </a:t>
            </a:r>
            <a:r>
              <a:rPr lang="en-US" sz="1599" dirty="0" err="1" smtClean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Transtorno</a:t>
            </a:r>
            <a:r>
              <a:rPr lang="en-US" sz="1599" dirty="0" smtClean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do </a:t>
            </a:r>
            <a:r>
              <a:rPr lang="en-US" sz="1599" dirty="0" err="1" smtClean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Espectro</a:t>
            </a:r>
            <a:r>
              <a:rPr lang="en-US" sz="1599" dirty="0" smtClean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99" dirty="0" err="1" smtClean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Autista</a:t>
            </a:r>
            <a:r>
              <a:rPr lang="en-US" sz="1599" dirty="0" smtClean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1599" dirty="0" err="1" smtClean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nível</a:t>
            </a:r>
            <a:r>
              <a:rPr lang="en-US" sz="1599" dirty="0" smtClean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1</a:t>
            </a:r>
            <a:endParaRPr lang="en-US" sz="1599" dirty="0">
              <a:solidFill>
                <a:srgbClr val="1F202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5480" y="2944884"/>
            <a:ext cx="9034010" cy="1153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322"/>
              </a:lnSpc>
              <a:spcBef>
                <a:spcPct val="0"/>
              </a:spcBef>
            </a:pPr>
            <a:r>
              <a:rPr lang="en-US" sz="6658" dirty="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TEALEARN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71550" y="4606260"/>
            <a:ext cx="10229895" cy="855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945"/>
              </a:lnSpc>
              <a:spcBef>
                <a:spcPct val="0"/>
              </a:spcBef>
            </a:pPr>
            <a:r>
              <a:rPr lang="en-US" sz="4960" b="1" dirty="0" smtClean="0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MUITO OBRIGADO!</a:t>
            </a:r>
            <a:endParaRPr lang="en-US" sz="4960" b="1" dirty="0">
              <a:solidFill>
                <a:srgbClr val="FFFFFF"/>
              </a:solidFill>
              <a:latin typeface="TT Supermolot Neue Expanded Bold"/>
              <a:ea typeface="TT Supermolot Neue Expanded Bold"/>
              <a:cs typeface="TT Supermolot Neue Expanded Bold"/>
              <a:sym typeface="TT Supermolot Neue Expanded Bold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944965" y="907230"/>
            <a:ext cx="619853" cy="519722"/>
          </a:xfrm>
          <a:custGeom>
            <a:avLst/>
            <a:gdLst/>
            <a:ahLst/>
            <a:cxnLst/>
            <a:rect l="l" t="t" r="r" b="b"/>
            <a:pathLst>
              <a:path w="619853" h="519722">
                <a:moveTo>
                  <a:pt x="0" y="0"/>
                </a:moveTo>
                <a:lnTo>
                  <a:pt x="619852" y="0"/>
                </a:lnTo>
                <a:lnTo>
                  <a:pt x="619852" y="519722"/>
                </a:lnTo>
                <a:lnTo>
                  <a:pt x="0" y="5197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721518" y="1050572"/>
            <a:ext cx="2281415" cy="406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24"/>
              </a:lnSpc>
              <a:spcBef>
                <a:spcPct val="0"/>
              </a:spcBef>
            </a:pPr>
            <a:r>
              <a:rPr lang="en-US" sz="2302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TEALEARN</a:t>
            </a:r>
          </a:p>
        </p:txBody>
      </p:sp>
    </p:spTree>
    <p:extLst>
      <p:ext uri="{BB962C8B-B14F-4D97-AF65-F5344CB8AC3E}">
        <p14:creationId xmlns:p14="http://schemas.microsoft.com/office/powerpoint/2010/main" val="4255324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25037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5480" y="2944884"/>
            <a:ext cx="9034010" cy="1055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322"/>
              </a:lnSpc>
              <a:spcBef>
                <a:spcPct val="0"/>
              </a:spcBef>
            </a:pPr>
            <a:r>
              <a:rPr lang="en-US" sz="4000" b="1" dirty="0" smtClean="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ÁPRESENTAÇÃO TÉCNICA</a:t>
            </a:r>
            <a:endParaRPr lang="en-US" sz="4000" b="1" dirty="0">
              <a:solidFill>
                <a:srgbClr val="FFFFFF"/>
              </a:solidFill>
              <a:latin typeface="TT Supermolot Neue Expanded"/>
              <a:ea typeface="TT Supermolot Neue Expanded"/>
              <a:cs typeface="TT Supermolot Neue Expanded"/>
              <a:sym typeface="TT Supermolot Neue Expanded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944965" y="907230"/>
            <a:ext cx="619853" cy="519722"/>
          </a:xfrm>
          <a:custGeom>
            <a:avLst/>
            <a:gdLst/>
            <a:ahLst/>
            <a:cxnLst/>
            <a:rect l="l" t="t" r="r" b="b"/>
            <a:pathLst>
              <a:path w="619853" h="519722">
                <a:moveTo>
                  <a:pt x="0" y="0"/>
                </a:moveTo>
                <a:lnTo>
                  <a:pt x="619852" y="0"/>
                </a:lnTo>
                <a:lnTo>
                  <a:pt x="619852" y="519722"/>
                </a:lnTo>
                <a:lnTo>
                  <a:pt x="0" y="5197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721518" y="1050572"/>
            <a:ext cx="2281415" cy="406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24"/>
              </a:lnSpc>
              <a:spcBef>
                <a:spcPct val="0"/>
              </a:spcBef>
            </a:pPr>
            <a:r>
              <a:rPr lang="en-US" sz="2302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TEALEARN</a:t>
            </a:r>
          </a:p>
        </p:txBody>
      </p:sp>
    </p:spTree>
    <p:extLst>
      <p:ext uri="{BB962C8B-B14F-4D97-AF65-F5344CB8AC3E}">
        <p14:creationId xmlns:p14="http://schemas.microsoft.com/office/powerpoint/2010/main" val="2624559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259300" y="479195"/>
            <a:ext cx="422866" cy="244494"/>
          </a:xfrm>
          <a:custGeom>
            <a:avLst/>
            <a:gdLst/>
            <a:ahLst/>
            <a:cxnLst/>
            <a:rect l="l" t="t" r="r" b="b"/>
            <a:pathLst>
              <a:path w="422866" h="244494">
                <a:moveTo>
                  <a:pt x="0" y="0"/>
                </a:moveTo>
                <a:lnTo>
                  <a:pt x="422866" y="0"/>
                </a:lnTo>
                <a:lnTo>
                  <a:pt x="422866" y="244493"/>
                </a:lnTo>
                <a:lnTo>
                  <a:pt x="0" y="2444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73429" y="479195"/>
            <a:ext cx="274427" cy="260019"/>
          </a:xfrm>
          <a:custGeom>
            <a:avLst/>
            <a:gdLst/>
            <a:ahLst/>
            <a:cxnLst/>
            <a:rect l="l" t="t" r="r" b="b"/>
            <a:pathLst>
              <a:path w="274427" h="260019">
                <a:moveTo>
                  <a:pt x="0" y="0"/>
                </a:moveTo>
                <a:lnTo>
                  <a:pt x="274427" y="0"/>
                </a:lnTo>
                <a:lnTo>
                  <a:pt x="274427" y="260019"/>
                </a:lnTo>
                <a:lnTo>
                  <a:pt x="0" y="2600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8063054" y="8723599"/>
            <a:ext cx="224946" cy="534701"/>
            <a:chOff x="0" y="0"/>
            <a:chExt cx="59245" cy="14082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9245" cy="140827"/>
            </a:xfrm>
            <a:custGeom>
              <a:avLst/>
              <a:gdLst/>
              <a:ahLst/>
              <a:cxnLst/>
              <a:rect l="l" t="t" r="r" b="b"/>
              <a:pathLst>
                <a:path w="59245" h="140827">
                  <a:moveTo>
                    <a:pt x="0" y="0"/>
                  </a:moveTo>
                  <a:lnTo>
                    <a:pt x="59245" y="0"/>
                  </a:lnTo>
                  <a:lnTo>
                    <a:pt x="59245" y="140827"/>
                  </a:lnTo>
                  <a:lnTo>
                    <a:pt x="0" y="140827"/>
                  </a:lnTo>
                  <a:close/>
                </a:path>
              </a:pathLst>
            </a:custGeom>
            <a:solidFill>
              <a:srgbClr val="2F3C81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59245" cy="1979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6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8063054" y="8188899"/>
            <a:ext cx="224946" cy="534701"/>
            <a:chOff x="0" y="0"/>
            <a:chExt cx="59245" cy="14082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9245" cy="140827"/>
            </a:xfrm>
            <a:custGeom>
              <a:avLst/>
              <a:gdLst/>
              <a:ahLst/>
              <a:cxnLst/>
              <a:rect l="l" t="t" r="r" b="b"/>
              <a:pathLst>
                <a:path w="59245" h="140827">
                  <a:moveTo>
                    <a:pt x="0" y="0"/>
                  </a:moveTo>
                  <a:lnTo>
                    <a:pt x="59245" y="0"/>
                  </a:lnTo>
                  <a:lnTo>
                    <a:pt x="59245" y="140827"/>
                  </a:lnTo>
                  <a:lnTo>
                    <a:pt x="0" y="140827"/>
                  </a:lnTo>
                  <a:close/>
                </a:path>
              </a:pathLst>
            </a:custGeom>
            <a:solidFill>
              <a:srgbClr val="E1E4F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59245" cy="1979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6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096258" y="489099"/>
            <a:ext cx="1385913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59"/>
              </a:lnSpc>
              <a:spcBef>
                <a:spcPct val="0"/>
              </a:spcBef>
            </a:pPr>
            <a:r>
              <a:rPr lang="en-US" sz="1399">
                <a:solidFill>
                  <a:srgbClr val="1F2020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TEALEARN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73429" y="1073800"/>
            <a:ext cx="6983671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756"/>
              </a:lnSpc>
            </a:pPr>
            <a:r>
              <a:rPr lang="en-US" sz="3997" b="1" dirty="0" smtClean="0">
                <a:solidFill>
                  <a:srgbClr val="2F3C81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FLUXO DA PLATAFORMA</a:t>
            </a:r>
          </a:p>
          <a:p>
            <a:pPr marL="0" lvl="0" indent="0" algn="l">
              <a:lnSpc>
                <a:spcPts val="4756"/>
              </a:lnSpc>
            </a:pPr>
            <a:r>
              <a:rPr lang="en-US" sz="3997" b="1" dirty="0" smtClean="0">
                <a:solidFill>
                  <a:srgbClr val="2F3C81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UPLOAD</a:t>
            </a:r>
            <a:endParaRPr lang="en-US" sz="3997" b="1" dirty="0">
              <a:solidFill>
                <a:srgbClr val="2F3C81"/>
              </a:solidFill>
              <a:latin typeface="TT Supermolot Neue Expanded Bold"/>
              <a:ea typeface="TT Supermolot Neue Expanded Bold"/>
              <a:cs typeface="TT Supermolot Neue Expanded Bold"/>
              <a:sym typeface="TT Supermolot Neue Expanded Bold"/>
            </a:endParaRPr>
          </a:p>
        </p:txBody>
      </p:sp>
      <p:sp>
        <p:nvSpPr>
          <p:cNvPr id="41" name="TextBox 25">
            <a:extLst>
              <a:ext uri="{FF2B5EF4-FFF2-40B4-BE49-F238E27FC236}">
                <a16:creationId xmlns:a16="http://schemas.microsoft.com/office/drawing/2014/main" id="{27EB6D35-B951-6200-ADB9-7E94DD4FBF4A}"/>
              </a:ext>
            </a:extLst>
          </p:cNvPr>
          <p:cNvSpPr txBox="1"/>
          <p:nvPr/>
        </p:nvSpPr>
        <p:spPr>
          <a:xfrm>
            <a:off x="9811425" y="3713024"/>
            <a:ext cx="496110" cy="297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8"/>
              </a:lnSpc>
              <a:spcBef>
                <a:spcPct val="0"/>
              </a:spcBef>
            </a:pPr>
            <a:r>
              <a:rPr lang="en-US" sz="1798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08</a:t>
            </a:r>
          </a:p>
        </p:txBody>
      </p:sp>
      <p:pic>
        <p:nvPicPr>
          <p:cNvPr id="10" name="Imagem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856" y="2304906"/>
            <a:ext cx="14892548" cy="7093450"/>
          </a:xfrm>
          <a:prstGeom prst="rect">
            <a:avLst/>
          </a:prstGeom>
        </p:spPr>
      </p:pic>
      <p:sp>
        <p:nvSpPr>
          <p:cNvPr id="12" name="Arredondar Retângulo em um Canto Diagonal 11"/>
          <p:cNvSpPr/>
          <p:nvPr/>
        </p:nvSpPr>
        <p:spPr>
          <a:xfrm>
            <a:off x="11658600" y="6896100"/>
            <a:ext cx="3657600" cy="533400"/>
          </a:xfrm>
          <a:prstGeom prst="round2DiagRect">
            <a:avLst>
              <a:gd name="adj1" fmla="val 50000"/>
              <a:gd name="adj2" fmla="val 50000"/>
            </a:avLst>
          </a:prstGeom>
          <a:noFill/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517351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259300" y="479195"/>
            <a:ext cx="422866" cy="244494"/>
          </a:xfrm>
          <a:custGeom>
            <a:avLst/>
            <a:gdLst/>
            <a:ahLst/>
            <a:cxnLst/>
            <a:rect l="l" t="t" r="r" b="b"/>
            <a:pathLst>
              <a:path w="422866" h="244494">
                <a:moveTo>
                  <a:pt x="0" y="0"/>
                </a:moveTo>
                <a:lnTo>
                  <a:pt x="422866" y="0"/>
                </a:lnTo>
                <a:lnTo>
                  <a:pt x="422866" y="244493"/>
                </a:lnTo>
                <a:lnTo>
                  <a:pt x="0" y="2444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73429" y="479195"/>
            <a:ext cx="274427" cy="260019"/>
          </a:xfrm>
          <a:custGeom>
            <a:avLst/>
            <a:gdLst/>
            <a:ahLst/>
            <a:cxnLst/>
            <a:rect l="l" t="t" r="r" b="b"/>
            <a:pathLst>
              <a:path w="274427" h="260019">
                <a:moveTo>
                  <a:pt x="0" y="0"/>
                </a:moveTo>
                <a:lnTo>
                  <a:pt x="274427" y="0"/>
                </a:lnTo>
                <a:lnTo>
                  <a:pt x="274427" y="260019"/>
                </a:lnTo>
                <a:lnTo>
                  <a:pt x="0" y="2600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8063054" y="8723599"/>
            <a:ext cx="224946" cy="534701"/>
            <a:chOff x="0" y="0"/>
            <a:chExt cx="59245" cy="14082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9245" cy="140827"/>
            </a:xfrm>
            <a:custGeom>
              <a:avLst/>
              <a:gdLst/>
              <a:ahLst/>
              <a:cxnLst/>
              <a:rect l="l" t="t" r="r" b="b"/>
              <a:pathLst>
                <a:path w="59245" h="140827">
                  <a:moveTo>
                    <a:pt x="0" y="0"/>
                  </a:moveTo>
                  <a:lnTo>
                    <a:pt x="59245" y="0"/>
                  </a:lnTo>
                  <a:lnTo>
                    <a:pt x="59245" y="140827"/>
                  </a:lnTo>
                  <a:lnTo>
                    <a:pt x="0" y="140827"/>
                  </a:lnTo>
                  <a:close/>
                </a:path>
              </a:pathLst>
            </a:custGeom>
            <a:solidFill>
              <a:srgbClr val="2F3C81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59245" cy="1979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6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8063054" y="8188899"/>
            <a:ext cx="224946" cy="534701"/>
            <a:chOff x="0" y="0"/>
            <a:chExt cx="59245" cy="14082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9245" cy="140827"/>
            </a:xfrm>
            <a:custGeom>
              <a:avLst/>
              <a:gdLst/>
              <a:ahLst/>
              <a:cxnLst/>
              <a:rect l="l" t="t" r="r" b="b"/>
              <a:pathLst>
                <a:path w="59245" h="140827">
                  <a:moveTo>
                    <a:pt x="0" y="0"/>
                  </a:moveTo>
                  <a:lnTo>
                    <a:pt x="59245" y="0"/>
                  </a:lnTo>
                  <a:lnTo>
                    <a:pt x="59245" y="140827"/>
                  </a:lnTo>
                  <a:lnTo>
                    <a:pt x="0" y="140827"/>
                  </a:lnTo>
                  <a:close/>
                </a:path>
              </a:pathLst>
            </a:custGeom>
            <a:solidFill>
              <a:srgbClr val="E1E4F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59245" cy="1979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6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096258" y="489099"/>
            <a:ext cx="1385913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59"/>
              </a:lnSpc>
              <a:spcBef>
                <a:spcPct val="0"/>
              </a:spcBef>
            </a:pPr>
            <a:r>
              <a:rPr lang="en-US" sz="1399">
                <a:solidFill>
                  <a:srgbClr val="1F2020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TEALEARN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73429" y="1073800"/>
            <a:ext cx="6983671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756"/>
              </a:lnSpc>
            </a:pPr>
            <a:r>
              <a:rPr lang="en-US" sz="3997" b="1" dirty="0" smtClean="0">
                <a:solidFill>
                  <a:srgbClr val="2F3C81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FLUXO DA PLATAFORMA</a:t>
            </a:r>
            <a:endParaRPr lang="en-US" sz="3997" b="1" dirty="0">
              <a:solidFill>
                <a:srgbClr val="2F3C81"/>
              </a:solidFill>
              <a:latin typeface="TT Supermolot Neue Expanded Bold"/>
              <a:ea typeface="TT Supermolot Neue Expanded Bold"/>
              <a:cs typeface="TT Supermolot Neue Expanded Bold"/>
              <a:sym typeface="TT Supermolot Neue Expanded Bold"/>
            </a:endParaRPr>
          </a:p>
        </p:txBody>
      </p:sp>
      <p:sp>
        <p:nvSpPr>
          <p:cNvPr id="41" name="TextBox 25">
            <a:extLst>
              <a:ext uri="{FF2B5EF4-FFF2-40B4-BE49-F238E27FC236}">
                <a16:creationId xmlns:a16="http://schemas.microsoft.com/office/drawing/2014/main" id="{27EB6D35-B951-6200-ADB9-7E94DD4FBF4A}"/>
              </a:ext>
            </a:extLst>
          </p:cNvPr>
          <p:cNvSpPr txBox="1"/>
          <p:nvPr/>
        </p:nvSpPr>
        <p:spPr>
          <a:xfrm>
            <a:off x="9811425" y="3713024"/>
            <a:ext cx="496110" cy="297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8"/>
              </a:lnSpc>
              <a:spcBef>
                <a:spcPct val="0"/>
              </a:spcBef>
            </a:pPr>
            <a:r>
              <a:rPr lang="en-US" sz="1798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08</a:t>
            </a: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856" y="2070030"/>
            <a:ext cx="14787991" cy="7288533"/>
          </a:xfrm>
          <a:prstGeom prst="rect">
            <a:avLst/>
          </a:prstGeom>
        </p:spPr>
      </p:pic>
      <p:sp>
        <p:nvSpPr>
          <p:cNvPr id="33" name="Arredondar Retângulo em um Canto Diagonal 32"/>
          <p:cNvSpPr/>
          <p:nvPr/>
        </p:nvSpPr>
        <p:spPr>
          <a:xfrm>
            <a:off x="11811000" y="3862719"/>
            <a:ext cx="1600200" cy="533400"/>
          </a:xfrm>
          <a:prstGeom prst="round2DiagRect">
            <a:avLst>
              <a:gd name="adj1" fmla="val 50000"/>
              <a:gd name="adj2" fmla="val 50000"/>
            </a:avLst>
          </a:prstGeom>
          <a:noFill/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259300" y="479195"/>
            <a:ext cx="422866" cy="244494"/>
          </a:xfrm>
          <a:custGeom>
            <a:avLst/>
            <a:gdLst/>
            <a:ahLst/>
            <a:cxnLst/>
            <a:rect l="l" t="t" r="r" b="b"/>
            <a:pathLst>
              <a:path w="422866" h="244494">
                <a:moveTo>
                  <a:pt x="0" y="0"/>
                </a:moveTo>
                <a:lnTo>
                  <a:pt x="422866" y="0"/>
                </a:lnTo>
                <a:lnTo>
                  <a:pt x="422866" y="244493"/>
                </a:lnTo>
                <a:lnTo>
                  <a:pt x="0" y="2444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73429" y="479195"/>
            <a:ext cx="274427" cy="260019"/>
          </a:xfrm>
          <a:custGeom>
            <a:avLst/>
            <a:gdLst/>
            <a:ahLst/>
            <a:cxnLst/>
            <a:rect l="l" t="t" r="r" b="b"/>
            <a:pathLst>
              <a:path w="274427" h="260019">
                <a:moveTo>
                  <a:pt x="0" y="0"/>
                </a:moveTo>
                <a:lnTo>
                  <a:pt x="274427" y="0"/>
                </a:lnTo>
                <a:lnTo>
                  <a:pt x="274427" y="260019"/>
                </a:lnTo>
                <a:lnTo>
                  <a:pt x="0" y="2600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8063054" y="8723599"/>
            <a:ext cx="224946" cy="534701"/>
            <a:chOff x="0" y="0"/>
            <a:chExt cx="59245" cy="14082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9245" cy="140827"/>
            </a:xfrm>
            <a:custGeom>
              <a:avLst/>
              <a:gdLst/>
              <a:ahLst/>
              <a:cxnLst/>
              <a:rect l="l" t="t" r="r" b="b"/>
              <a:pathLst>
                <a:path w="59245" h="140827">
                  <a:moveTo>
                    <a:pt x="0" y="0"/>
                  </a:moveTo>
                  <a:lnTo>
                    <a:pt x="59245" y="0"/>
                  </a:lnTo>
                  <a:lnTo>
                    <a:pt x="59245" y="140827"/>
                  </a:lnTo>
                  <a:lnTo>
                    <a:pt x="0" y="140827"/>
                  </a:lnTo>
                  <a:close/>
                </a:path>
              </a:pathLst>
            </a:custGeom>
            <a:solidFill>
              <a:srgbClr val="2F3C81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59245" cy="1979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6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8063054" y="8188899"/>
            <a:ext cx="224946" cy="534701"/>
            <a:chOff x="0" y="0"/>
            <a:chExt cx="59245" cy="14082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9245" cy="140827"/>
            </a:xfrm>
            <a:custGeom>
              <a:avLst/>
              <a:gdLst/>
              <a:ahLst/>
              <a:cxnLst/>
              <a:rect l="l" t="t" r="r" b="b"/>
              <a:pathLst>
                <a:path w="59245" h="140827">
                  <a:moveTo>
                    <a:pt x="0" y="0"/>
                  </a:moveTo>
                  <a:lnTo>
                    <a:pt x="59245" y="0"/>
                  </a:lnTo>
                  <a:lnTo>
                    <a:pt x="59245" y="140827"/>
                  </a:lnTo>
                  <a:lnTo>
                    <a:pt x="0" y="140827"/>
                  </a:lnTo>
                  <a:close/>
                </a:path>
              </a:pathLst>
            </a:custGeom>
            <a:solidFill>
              <a:srgbClr val="E1E4F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59245" cy="1979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6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530108" y="1028700"/>
            <a:ext cx="12729192" cy="8229600"/>
            <a:chOff x="0" y="0"/>
            <a:chExt cx="16972256" cy="10972800"/>
          </a:xfrm>
        </p:grpSpPr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6"/>
            <a:srcRect t="172" b="172"/>
            <a:stretch>
              <a:fillRect/>
            </a:stretch>
          </p:blipFill>
          <p:spPr>
            <a:xfrm>
              <a:off x="0" y="0"/>
              <a:ext cx="16972256" cy="10972800"/>
            </a:xfrm>
            <a:prstGeom prst="rect">
              <a:avLst/>
            </a:prstGeom>
          </p:spPr>
        </p:pic>
      </p:grpSp>
      <p:grpSp>
        <p:nvGrpSpPr>
          <p:cNvPr id="12" name="Group 12"/>
          <p:cNvGrpSpPr/>
          <p:nvPr/>
        </p:nvGrpSpPr>
        <p:grpSpPr>
          <a:xfrm>
            <a:off x="0" y="1028700"/>
            <a:ext cx="4530108" cy="8229600"/>
            <a:chOff x="0" y="0"/>
            <a:chExt cx="1193115" cy="216746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93115" cy="2167467"/>
            </a:xfrm>
            <a:custGeom>
              <a:avLst/>
              <a:gdLst/>
              <a:ahLst/>
              <a:cxnLst/>
              <a:rect l="l" t="t" r="r" b="b"/>
              <a:pathLst>
                <a:path w="1193115" h="2167467">
                  <a:moveTo>
                    <a:pt x="0" y="0"/>
                  </a:moveTo>
                  <a:lnTo>
                    <a:pt x="1193115" y="0"/>
                  </a:lnTo>
                  <a:lnTo>
                    <a:pt x="11931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2F3C81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1193115" cy="2224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6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15240" y="3233635"/>
            <a:ext cx="12085285" cy="3819729"/>
            <a:chOff x="0" y="0"/>
            <a:chExt cx="3182956" cy="10060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182956" cy="1006019"/>
            </a:xfrm>
            <a:custGeom>
              <a:avLst/>
              <a:gdLst/>
              <a:ahLst/>
              <a:cxnLst/>
              <a:rect l="l" t="t" r="r" b="b"/>
              <a:pathLst>
                <a:path w="3182956" h="1006019">
                  <a:moveTo>
                    <a:pt x="0" y="0"/>
                  </a:moveTo>
                  <a:lnTo>
                    <a:pt x="3182956" y="0"/>
                  </a:lnTo>
                  <a:lnTo>
                    <a:pt x="3182956" y="1006019"/>
                  </a:lnTo>
                  <a:lnTo>
                    <a:pt x="0" y="100601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3182956" cy="1063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6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096258" y="498624"/>
            <a:ext cx="1385913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TEALEARN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7856" y="3748151"/>
            <a:ext cx="10229895" cy="39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07"/>
              </a:lnSpc>
              <a:spcBef>
                <a:spcPct val="0"/>
              </a:spcBef>
            </a:pPr>
            <a:r>
              <a:rPr lang="en-US" sz="2291">
                <a:solidFill>
                  <a:srgbClr val="2F3C81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TEALEARN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47856" y="5038725"/>
            <a:ext cx="10882010" cy="1212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07"/>
              </a:lnSpc>
              <a:spcBef>
                <a:spcPct val="0"/>
              </a:spcBef>
            </a:pPr>
            <a:r>
              <a:rPr lang="en-US" sz="2291" b="1" dirty="0">
                <a:solidFill>
                  <a:srgbClr val="2F3C81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UMA PROPOSTA QUE UNE INTELIGÊNCIA ARTIFICIAL E EDUCAÇÃO INCLUSIVA PARA APOIAR PROFESSORES NA CONSTRUÇÃO DE UM ENSINO MAIS ACESSÍVEL, PERSONALIZADO E EFICIENTE.</a:t>
            </a:r>
          </a:p>
        </p:txBody>
      </p:sp>
      <p:sp>
        <p:nvSpPr>
          <p:cNvPr id="22" name="TextBox 16"/>
          <p:cNvSpPr txBox="1"/>
          <p:nvPr/>
        </p:nvSpPr>
        <p:spPr>
          <a:xfrm>
            <a:off x="640447" y="1028700"/>
            <a:ext cx="5099774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60"/>
              </a:lnSpc>
            </a:pPr>
            <a:r>
              <a:rPr lang="en-US" sz="4000" b="1" dirty="0" smtClean="0">
                <a:solidFill>
                  <a:srgbClr val="2F3C81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CONVERSÃO</a:t>
            </a:r>
            <a:endParaRPr lang="en-US" sz="4000" b="1" dirty="0">
              <a:solidFill>
                <a:srgbClr val="2F3C81"/>
              </a:solidFill>
              <a:latin typeface="TT Supermolot Neue Expanded Bold"/>
              <a:ea typeface="TT Supermolot Neue Expanded Bold"/>
              <a:cs typeface="TT Supermolot Neue Expanded Bold"/>
              <a:sym typeface="TT Supermolot Neue Expanded Bold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398</TotalTime>
  <Words>268</Words>
  <Application>Microsoft Office PowerPoint</Application>
  <PresentationFormat>Personalizar</PresentationFormat>
  <Paragraphs>113</Paragraphs>
  <Slides>23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30" baseType="lpstr">
      <vt:lpstr>Open Sans Bold</vt:lpstr>
      <vt:lpstr>Arial</vt:lpstr>
      <vt:lpstr>TT Supermolot Neue Expanded</vt:lpstr>
      <vt:lpstr>Open Sans</vt:lpstr>
      <vt:lpstr>Calibri</vt:lpstr>
      <vt:lpstr>TT Supermolot Neue Expanded 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TeaLearn: Educação Inclusiva com IA</dc:title>
  <cp:lastModifiedBy>Usuário</cp:lastModifiedBy>
  <cp:revision>34</cp:revision>
  <dcterms:created xsi:type="dcterms:W3CDTF">2006-08-16T00:00:00Z</dcterms:created>
  <dcterms:modified xsi:type="dcterms:W3CDTF">2026-09-03T00:56:16Z</dcterms:modified>
  <dc:identifier>DAHRdgpuW4c</dc:identifier>
</cp:coreProperties>
</file>