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272" r:id="rId3"/>
    <p:sldId id="257" r:id="rId4"/>
    <p:sldId id="258" r:id="rId5"/>
    <p:sldId id="260" r:id="rId6"/>
    <p:sldId id="275" r:id="rId7"/>
    <p:sldId id="276" r:id="rId8"/>
    <p:sldId id="266" r:id="rId9"/>
    <p:sldId id="268" r:id="rId10"/>
    <p:sldId id="269" r:id="rId11"/>
    <p:sldId id="261" r:id="rId12"/>
    <p:sldId id="277" r:id="rId13"/>
    <p:sldId id="278" r:id="rId14"/>
    <p:sldId id="279" r:id="rId15"/>
    <p:sldId id="270" r:id="rId16"/>
    <p:sldId id="282" r:id="rId17"/>
    <p:sldId id="283" r:id="rId18"/>
    <p:sldId id="263" r:id="rId19"/>
    <p:sldId id="273" r:id="rId20"/>
    <p:sldId id="274" r:id="rId21"/>
    <p:sldId id="271" r:id="rId22"/>
    <p:sldId id="262" r:id="rId23"/>
    <p:sldId id="265" r:id="rId24"/>
  </p:sldIdLst>
  <p:sldSz cx="18288000" cy="10287000"/>
  <p:notesSz cx="6858000" cy="9144000"/>
  <p:embeddedFontLs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Open Sans" panose="020B0604020202020204" charset="0"/>
      <p:regular r:id="rId30"/>
    </p:embeddedFont>
    <p:embeddedFont>
      <p:font typeface="Open Sans Bold" panose="020B0604020202020204" charset="0"/>
      <p:regular r:id="rId31"/>
    </p:embeddedFont>
    <p:embeddedFont>
      <p:font typeface="TT Supermolot Neue Expanded" panose="020B0604020202020204" charset="0"/>
      <p:regular r:id="rId32"/>
    </p:embeddedFont>
    <p:embeddedFont>
      <p:font typeface="TT Supermolot Neue Expanded Bold" panose="020B0604020202020204" charset="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934C4-5F67-44AB-9B52-0A195AA63C05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F720E-D31E-4034-AB0C-8CD2D890DB8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670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7F720E-D31E-4034-AB0C-8CD2D890DB8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4647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PLATAFORMA INTELIGENTE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84453" y="6693339"/>
            <a:ext cx="5729168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de Materiais Didáticos com Inteligência Artificial</a:t>
            </a: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Projeto de Trabalho de Conclusão de Curso</a:t>
            </a:r>
          </a:p>
        </p:txBody>
      </p:sp>
      <p:sp>
        <p:nvSpPr>
          <p:cNvPr id="8" name="AutoShape 8"/>
          <p:cNvSpPr/>
          <p:nvPr/>
        </p:nvSpPr>
        <p:spPr>
          <a:xfrm>
            <a:off x="1047750" y="6721914"/>
            <a:ext cx="0" cy="59839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 2"/>
          <p:cNvSpPr/>
          <p:nvPr/>
        </p:nvSpPr>
        <p:spPr>
          <a:xfrm>
            <a:off x="0" y="-1089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324100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b="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QUEM SOMOS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1" name="Fluxograma: Conector 10"/>
          <p:cNvSpPr/>
          <p:nvPr/>
        </p:nvSpPr>
        <p:spPr>
          <a:xfrm>
            <a:off x="1025480" y="5976469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Fluxograma: Conector 11"/>
          <p:cNvSpPr/>
          <p:nvPr/>
        </p:nvSpPr>
        <p:spPr>
          <a:xfrm>
            <a:off x="1025480" y="7959914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luxograma: Conector 12"/>
          <p:cNvSpPr/>
          <p:nvPr/>
        </p:nvSpPr>
        <p:spPr>
          <a:xfrm>
            <a:off x="5023073" y="7960730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Fluxograma: Conector 13"/>
          <p:cNvSpPr/>
          <p:nvPr/>
        </p:nvSpPr>
        <p:spPr>
          <a:xfrm>
            <a:off x="5029200" y="5977285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2666999" y="4446516"/>
            <a:ext cx="1752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Davi Tavares</a:t>
            </a:r>
          </a:p>
        </p:txBody>
      </p:sp>
      <p:sp>
        <p:nvSpPr>
          <p:cNvPr id="17" name="CaixaDeTexto 16"/>
          <p:cNvSpPr txBox="1"/>
          <p:nvPr/>
        </p:nvSpPr>
        <p:spPr>
          <a:xfrm>
            <a:off x="2666998" y="6341086"/>
            <a:ext cx="1600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João Vitor</a:t>
            </a:r>
          </a:p>
        </p:txBody>
      </p:sp>
      <p:sp>
        <p:nvSpPr>
          <p:cNvPr id="18" name="CaixaDeTexto 17"/>
          <p:cNvSpPr txBox="1"/>
          <p:nvPr/>
        </p:nvSpPr>
        <p:spPr>
          <a:xfrm>
            <a:off x="2666997" y="8395831"/>
            <a:ext cx="1752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Felipe Rocha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6589703" y="4446516"/>
            <a:ext cx="2285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Leonardo </a:t>
            </a:r>
            <a:r>
              <a:rPr lang="pt-BR" sz="2400" dirty="0" err="1">
                <a:solidFill>
                  <a:schemeClr val="bg1"/>
                </a:solidFill>
              </a:rPr>
              <a:t>Buso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6569019" y="6341085"/>
            <a:ext cx="20415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Fernando </a:t>
            </a:r>
            <a:r>
              <a:rPr lang="pt-BR" sz="2400" dirty="0" err="1">
                <a:solidFill>
                  <a:schemeClr val="bg1"/>
                </a:solidFill>
              </a:rPr>
              <a:t>Fiani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6569018" y="8395830"/>
            <a:ext cx="20415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Bryan Diego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787" y="3838582"/>
            <a:ext cx="1729018" cy="1673065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94" t="13257" b="26136"/>
          <a:stretch/>
        </p:blipFill>
        <p:spPr>
          <a:xfrm>
            <a:off x="4855117" y="3808593"/>
            <a:ext cx="1719122" cy="1733041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75" y="5762274"/>
            <a:ext cx="1747329" cy="1761890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" name="Imagem 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2" t="35227"/>
          <a:stretch/>
        </p:blipFill>
        <p:spPr>
          <a:xfrm>
            <a:off x="4807646" y="5785401"/>
            <a:ext cx="1782057" cy="1724084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7" name="Imagem 26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5" r="1726" b="24620"/>
          <a:stretch/>
        </p:blipFill>
        <p:spPr>
          <a:xfrm>
            <a:off x="868575" y="7774791"/>
            <a:ext cx="1756148" cy="1766800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8" name="Imagem 27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5" b="19319"/>
          <a:stretch/>
        </p:blipFill>
        <p:spPr>
          <a:xfrm>
            <a:off x="4855117" y="7774270"/>
            <a:ext cx="1713901" cy="1704784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69890868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201640" y="2400300"/>
            <a:ext cx="5086360" cy="7433266"/>
            <a:chOff x="0" y="0"/>
            <a:chExt cx="6417582" cy="1050743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 r:embed="rId6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410308" y="952500"/>
            <a:ext cx="4317028" cy="4803971"/>
            <a:chOff x="0" y="0"/>
            <a:chExt cx="6417582" cy="1050743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7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12046190" y="8347754"/>
            <a:ext cx="6241810" cy="910546"/>
            <a:chOff x="0" y="0"/>
            <a:chExt cx="2564842" cy="33182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4842" cy="331826"/>
            </a:xfrm>
            <a:custGeom>
              <a:avLst/>
              <a:gdLst/>
              <a:ahLst/>
              <a:cxnLst/>
              <a:rect l="l" t="t" r="r" b="b"/>
              <a:pathLst>
                <a:path w="2564842" h="331826">
                  <a:moveTo>
                    <a:pt x="0" y="0"/>
                  </a:moveTo>
                  <a:lnTo>
                    <a:pt x="2564842" y="0"/>
                  </a:lnTo>
                  <a:lnTo>
                    <a:pt x="2564842" y="331826"/>
                  </a:lnTo>
                  <a:lnTo>
                    <a:pt x="0" y="331826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564842" cy="3889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805244" y="2400300"/>
            <a:ext cx="467751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32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TEA NA EDUCAÇÃO</a:t>
            </a:r>
          </a:p>
        </p:txBody>
      </p:sp>
      <p:sp>
        <p:nvSpPr>
          <p:cNvPr id="24" name="Retângulo 23"/>
          <p:cNvSpPr/>
          <p:nvPr/>
        </p:nvSpPr>
        <p:spPr>
          <a:xfrm>
            <a:off x="5029200" y="4092373"/>
            <a:ext cx="8763000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ts val="2239"/>
              </a:lnSpc>
              <a:spcBef>
                <a:spcPct val="0"/>
              </a:spcBef>
            </a:pP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TeaLearn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é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plataforma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que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auxilia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professores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do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ensino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médio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Aranha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na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adaptação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materiais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didáticos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utilizando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Inteligência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Artificial.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191047" y="0"/>
            <a:ext cx="3086100" cy="308610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1028700"/>
            <a:ext cx="6174274" cy="4560290"/>
            <a:chOff x="0" y="0"/>
            <a:chExt cx="8232366" cy="608038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6"/>
            <a:srcRect t="72" b="72"/>
            <a:stretch>
              <a:fillRect/>
            </a:stretch>
          </p:blipFill>
          <p:spPr>
            <a:xfrm>
              <a:off x="0" y="0"/>
              <a:ext cx="8232366" cy="608038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6174274" y="5588990"/>
            <a:ext cx="11085026" cy="3669310"/>
            <a:chOff x="0" y="0"/>
            <a:chExt cx="14780034" cy="4892413"/>
          </a:xfrm>
        </p:grpSpPr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7"/>
            <a:srcRect t="594" b="594"/>
            <a:stretch>
              <a:fillRect/>
            </a:stretch>
          </p:blipFill>
          <p:spPr>
            <a:xfrm>
              <a:off x="0" y="0"/>
              <a:ext cx="14780034" cy="4892413"/>
            </a:xfrm>
            <a:prstGeom prst="rect">
              <a:avLst/>
            </a:prstGeom>
          </p:spPr>
        </p:pic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25757" y="6402448"/>
            <a:ext cx="3322761" cy="1786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CONTEXTUALIZAÇÃO DO </a:t>
            </a:r>
          </a:p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PROBLEMA</a:t>
            </a:r>
          </a:p>
        </p:txBody>
      </p:sp>
      <p:grpSp>
        <p:nvGrpSpPr>
          <p:cNvPr id="24" name="Agrupar 23"/>
          <p:cNvGrpSpPr/>
          <p:nvPr/>
        </p:nvGrpSpPr>
        <p:grpSpPr>
          <a:xfrm>
            <a:off x="8323962" y="2246222"/>
            <a:ext cx="5338022" cy="677751"/>
            <a:chOff x="8323962" y="2246222"/>
            <a:chExt cx="5338022" cy="677751"/>
          </a:xfrm>
        </p:grpSpPr>
        <p:grpSp>
          <p:nvGrpSpPr>
            <p:cNvPr id="19" name="Group 19"/>
            <p:cNvGrpSpPr/>
            <p:nvPr/>
          </p:nvGrpSpPr>
          <p:grpSpPr>
            <a:xfrm>
              <a:off x="8323962" y="2246222"/>
              <a:ext cx="677751" cy="677751"/>
              <a:chOff x="0" y="0"/>
              <a:chExt cx="178502" cy="178502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9144000" y="2480712"/>
              <a:ext cx="4517984" cy="25648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1959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FALTA DE TREINAMENTO ADEQUADO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4782" y="2422220"/>
              <a:ext cx="496110" cy="2972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518"/>
                </a:lnSpc>
                <a:spcBef>
                  <a:spcPct val="0"/>
                </a:spcBef>
              </a:pPr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grpSp>
        <p:nvGrpSpPr>
          <p:cNvPr id="25" name="Agrupar 24"/>
          <p:cNvGrpSpPr/>
          <p:nvPr/>
        </p:nvGrpSpPr>
        <p:grpSpPr>
          <a:xfrm>
            <a:off x="8323961" y="3314700"/>
            <a:ext cx="5696839" cy="677751"/>
            <a:chOff x="8323961" y="3314700"/>
            <a:chExt cx="5696839" cy="677751"/>
          </a:xfrm>
        </p:grpSpPr>
        <p:grpSp>
          <p:nvGrpSpPr>
            <p:cNvPr id="35" name="Group 19">
              <a:extLst>
                <a:ext uri="{FF2B5EF4-FFF2-40B4-BE49-F238E27FC236}">
                  <a16:creationId xmlns:a16="http://schemas.microsoft.com/office/drawing/2014/main" id="{D45E89BD-676A-4B3E-B76D-2BBF69B6DCA1}"/>
                </a:ext>
              </a:extLst>
            </p:cNvPr>
            <p:cNvGrpSpPr/>
            <p:nvPr/>
          </p:nvGrpSpPr>
          <p:grpSpPr>
            <a:xfrm>
              <a:off x="8323961" y="3314700"/>
              <a:ext cx="677751" cy="677751"/>
              <a:chOff x="0" y="0"/>
              <a:chExt cx="178502" cy="178502"/>
            </a:xfrm>
          </p:grpSpPr>
          <p:sp>
            <p:nvSpPr>
              <p:cNvPr id="36" name="Freeform 20">
                <a:extLst>
                  <a:ext uri="{FF2B5EF4-FFF2-40B4-BE49-F238E27FC236}">
                    <a16:creationId xmlns:a16="http://schemas.microsoft.com/office/drawing/2014/main" id="{7290D0B2-37DE-44A8-A306-674A4019C17C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  <p:txBody>
              <a:bodyPr/>
              <a:lstStyle/>
              <a:p>
                <a:endParaRPr lang="pt-BR" dirty="0"/>
              </a:p>
            </p:txBody>
          </p:sp>
          <p:sp>
            <p:nvSpPr>
              <p:cNvPr id="37" name="TextBox 21">
                <a:extLst>
                  <a:ext uri="{FF2B5EF4-FFF2-40B4-BE49-F238E27FC236}">
                    <a16:creationId xmlns:a16="http://schemas.microsoft.com/office/drawing/2014/main" id="{4F73FBDC-B9D0-4127-8E92-3E0D9F41C60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22">
              <a:extLst>
                <a:ext uri="{FF2B5EF4-FFF2-40B4-BE49-F238E27FC236}">
                  <a16:creationId xmlns:a16="http://schemas.microsoft.com/office/drawing/2014/main" id="{4F0A8497-7659-460F-B1B3-13ABB590387B}"/>
                </a:ext>
              </a:extLst>
            </p:cNvPr>
            <p:cNvSpPr txBox="1"/>
            <p:nvPr/>
          </p:nvSpPr>
          <p:spPr>
            <a:xfrm>
              <a:off x="9143999" y="3534215"/>
              <a:ext cx="4876801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AUSÊNCIA DE MATERIAIS INCLUSIVOS</a:t>
              </a: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A0C70FA5-6AB0-45BD-A45D-7D112BFAA50A}"/>
                </a:ext>
              </a:extLst>
            </p:cNvPr>
            <p:cNvSpPr/>
            <p:nvPr/>
          </p:nvSpPr>
          <p:spPr>
            <a:xfrm>
              <a:off x="8431526" y="348837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  <a:endParaRPr lang="pt-BR" dirty="0"/>
            </a:p>
          </p:txBody>
        </p:sp>
      </p:grpSp>
      <p:grpSp>
        <p:nvGrpSpPr>
          <p:cNvPr id="26" name="Agrupar 25"/>
          <p:cNvGrpSpPr/>
          <p:nvPr/>
        </p:nvGrpSpPr>
        <p:grpSpPr>
          <a:xfrm>
            <a:off x="8323962" y="4428115"/>
            <a:ext cx="4782438" cy="677751"/>
            <a:chOff x="8323962" y="4428115"/>
            <a:chExt cx="4782438" cy="677751"/>
          </a:xfrm>
        </p:grpSpPr>
        <p:grpSp>
          <p:nvGrpSpPr>
            <p:cNvPr id="32" name="Group 19">
              <a:extLst>
                <a:ext uri="{FF2B5EF4-FFF2-40B4-BE49-F238E27FC236}">
                  <a16:creationId xmlns:a16="http://schemas.microsoft.com/office/drawing/2014/main" id="{B7B59F1D-BD6C-49E8-8111-DC4C2FF6E8CC}"/>
                </a:ext>
              </a:extLst>
            </p:cNvPr>
            <p:cNvGrpSpPr/>
            <p:nvPr/>
          </p:nvGrpSpPr>
          <p:grpSpPr>
            <a:xfrm>
              <a:off x="8323962" y="4428115"/>
              <a:ext cx="677751" cy="677751"/>
              <a:chOff x="0" y="0"/>
              <a:chExt cx="178502" cy="178502"/>
            </a:xfrm>
          </p:grpSpPr>
          <p:sp>
            <p:nvSpPr>
              <p:cNvPr id="33" name="Freeform 20">
                <a:extLst>
                  <a:ext uri="{FF2B5EF4-FFF2-40B4-BE49-F238E27FC236}">
                    <a16:creationId xmlns:a16="http://schemas.microsoft.com/office/drawing/2014/main" id="{C6614935-D79B-4A93-AB1A-B77F3FDCA877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4" name="TextBox 21">
                <a:extLst>
                  <a:ext uri="{FF2B5EF4-FFF2-40B4-BE49-F238E27FC236}">
                    <a16:creationId xmlns:a16="http://schemas.microsoft.com/office/drawing/2014/main" id="{707DE0AA-B35F-4FE3-8857-172F051CB4A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8" name="TextBox 22">
              <a:extLst>
                <a:ext uri="{FF2B5EF4-FFF2-40B4-BE49-F238E27FC236}">
                  <a16:creationId xmlns:a16="http://schemas.microsoft.com/office/drawing/2014/main" id="{26E9C432-DAE1-436C-822B-6BC3EC873520}"/>
                </a:ext>
              </a:extLst>
            </p:cNvPr>
            <p:cNvSpPr txBox="1"/>
            <p:nvPr/>
          </p:nvSpPr>
          <p:spPr>
            <a:xfrm>
              <a:off x="9144000" y="4634585"/>
              <a:ext cx="3962400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VAGAS AFIRMATIVAS NAS ETECS</a:t>
              </a: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80FC1938-41B9-4C84-AFF0-50D1FDCB881B}"/>
                </a:ext>
              </a:extLst>
            </p:cNvPr>
            <p:cNvSpPr/>
            <p:nvPr/>
          </p:nvSpPr>
          <p:spPr>
            <a:xfrm>
              <a:off x="8437975" y="460621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  <a:endParaRPr lang="pt-BR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8" name="CaixaDeTexto 27"/>
          <p:cNvSpPr txBox="1"/>
          <p:nvPr/>
        </p:nvSpPr>
        <p:spPr>
          <a:xfrm>
            <a:off x="6628465" y="3645839"/>
            <a:ext cx="40687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/>
              <a:t>O QUE É TEA?</a:t>
            </a:r>
          </a:p>
        </p:txBody>
      </p:sp>
      <p:grpSp>
        <p:nvGrpSpPr>
          <p:cNvPr id="11" name="Agrupar 10"/>
          <p:cNvGrpSpPr/>
          <p:nvPr/>
        </p:nvGrpSpPr>
        <p:grpSpPr>
          <a:xfrm>
            <a:off x="4208584" y="5565053"/>
            <a:ext cx="1424165" cy="523220"/>
            <a:chOff x="3083455" y="4544080"/>
            <a:chExt cx="1424165" cy="523220"/>
          </a:xfrm>
        </p:grpSpPr>
        <p:sp>
          <p:nvSpPr>
            <p:cNvPr id="19" name="CaixaDeTexto 18"/>
            <p:cNvSpPr txBox="1"/>
            <p:nvPr/>
          </p:nvSpPr>
          <p:spPr>
            <a:xfrm>
              <a:off x="3326206" y="4544080"/>
              <a:ext cx="11814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Nível 1</a:t>
              </a:r>
            </a:p>
          </p:txBody>
        </p:sp>
        <p:sp>
          <p:nvSpPr>
            <p:cNvPr id="22" name="Estrela de 7 Pontas 21"/>
            <p:cNvSpPr/>
            <p:nvPr/>
          </p:nvSpPr>
          <p:spPr>
            <a:xfrm>
              <a:off x="3083455" y="4713872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2" name="Agrupar 11"/>
          <p:cNvGrpSpPr/>
          <p:nvPr/>
        </p:nvGrpSpPr>
        <p:grpSpPr>
          <a:xfrm>
            <a:off x="7950753" y="5553772"/>
            <a:ext cx="1424165" cy="523220"/>
            <a:chOff x="3083455" y="5136804"/>
            <a:chExt cx="1424165" cy="523220"/>
          </a:xfrm>
        </p:grpSpPr>
        <p:sp>
          <p:nvSpPr>
            <p:cNvPr id="20" name="CaixaDeTexto 19"/>
            <p:cNvSpPr txBox="1"/>
            <p:nvPr/>
          </p:nvSpPr>
          <p:spPr>
            <a:xfrm>
              <a:off x="3326206" y="5136804"/>
              <a:ext cx="11814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Nível 2</a:t>
              </a:r>
            </a:p>
          </p:txBody>
        </p:sp>
        <p:sp>
          <p:nvSpPr>
            <p:cNvPr id="24" name="Estrela de 7 Pontas 23"/>
            <p:cNvSpPr/>
            <p:nvPr/>
          </p:nvSpPr>
          <p:spPr>
            <a:xfrm>
              <a:off x="3083455" y="5296659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4" name="Agrupar 13"/>
          <p:cNvGrpSpPr/>
          <p:nvPr/>
        </p:nvGrpSpPr>
        <p:grpSpPr>
          <a:xfrm>
            <a:off x="11658600" y="5565053"/>
            <a:ext cx="1426266" cy="523220"/>
            <a:chOff x="3081354" y="5729528"/>
            <a:chExt cx="1426266" cy="523220"/>
          </a:xfrm>
        </p:grpSpPr>
        <p:sp>
          <p:nvSpPr>
            <p:cNvPr id="21" name="CaixaDeTexto 20"/>
            <p:cNvSpPr txBox="1"/>
            <p:nvPr/>
          </p:nvSpPr>
          <p:spPr>
            <a:xfrm>
              <a:off x="3326206" y="5729528"/>
              <a:ext cx="11814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Nível 3</a:t>
              </a:r>
            </a:p>
          </p:txBody>
        </p:sp>
        <p:sp>
          <p:nvSpPr>
            <p:cNvPr id="25" name="Estrela de 7 Pontas 24"/>
            <p:cNvSpPr/>
            <p:nvPr/>
          </p:nvSpPr>
          <p:spPr>
            <a:xfrm>
              <a:off x="3081354" y="5904637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7" name="CaixaDeTexto 26"/>
          <p:cNvSpPr txBox="1"/>
          <p:nvPr/>
        </p:nvSpPr>
        <p:spPr>
          <a:xfrm>
            <a:off x="5810640" y="4405858"/>
            <a:ext cx="59471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Transtorno do Espectro Autista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8" name="CaixaDeTexto 27"/>
          <p:cNvSpPr txBox="1"/>
          <p:nvPr/>
        </p:nvSpPr>
        <p:spPr>
          <a:xfrm>
            <a:off x="5310611" y="3467100"/>
            <a:ext cx="76667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/>
              <a:t>DI – Deficiência Intelectual</a:t>
            </a:r>
          </a:p>
        </p:txBody>
      </p:sp>
      <p:sp>
        <p:nvSpPr>
          <p:cNvPr id="26" name="CaixaDeTexto 25"/>
          <p:cNvSpPr txBox="1"/>
          <p:nvPr/>
        </p:nvSpPr>
        <p:spPr>
          <a:xfrm>
            <a:off x="1096258" y="7033669"/>
            <a:ext cx="3374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Níveis e Medição</a:t>
            </a:r>
          </a:p>
        </p:txBody>
      </p:sp>
      <p:sp>
        <p:nvSpPr>
          <p:cNvPr id="27" name="CaixaDeTexto 26"/>
          <p:cNvSpPr txBox="1"/>
          <p:nvPr/>
        </p:nvSpPr>
        <p:spPr>
          <a:xfrm>
            <a:off x="12573000" y="7033669"/>
            <a:ext cx="3712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Relação com o TEA</a:t>
            </a:r>
          </a:p>
        </p:txBody>
      </p:sp>
    </p:spTree>
    <p:extLst>
      <p:ext uri="{BB962C8B-B14F-4D97-AF65-F5344CB8AC3E}">
        <p14:creationId xmlns:p14="http://schemas.microsoft.com/office/powerpoint/2010/main" val="13548485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6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8" name="CaixaDeTexto 27"/>
          <p:cNvSpPr txBox="1"/>
          <p:nvPr/>
        </p:nvSpPr>
        <p:spPr>
          <a:xfrm>
            <a:off x="2702647" y="3543300"/>
            <a:ext cx="119203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/>
              <a:t>DUA – Desenho Universal de Aprendizado</a:t>
            </a:r>
          </a:p>
        </p:txBody>
      </p:sp>
      <p:sp>
        <p:nvSpPr>
          <p:cNvPr id="26" name="CaixaDeTexto 25"/>
          <p:cNvSpPr txBox="1"/>
          <p:nvPr/>
        </p:nvSpPr>
        <p:spPr>
          <a:xfrm>
            <a:off x="1096258" y="7033669"/>
            <a:ext cx="3712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Relação com o TEA</a:t>
            </a:r>
          </a:p>
        </p:txBody>
      </p:sp>
      <p:sp>
        <p:nvSpPr>
          <p:cNvPr id="27" name="CaixaDeTexto 26"/>
          <p:cNvSpPr txBox="1"/>
          <p:nvPr/>
        </p:nvSpPr>
        <p:spPr>
          <a:xfrm>
            <a:off x="12573000" y="7033669"/>
            <a:ext cx="39967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Oferece Alternativas</a:t>
            </a: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0B218A75-001C-4FDB-A0CB-8D01B169E09B}"/>
              </a:ext>
            </a:extLst>
          </p:cNvPr>
          <p:cNvGrpSpPr/>
          <p:nvPr/>
        </p:nvGrpSpPr>
        <p:grpSpPr>
          <a:xfrm>
            <a:off x="12496800" y="7710298"/>
            <a:ext cx="5289197" cy="523220"/>
            <a:chOff x="3083455" y="4544080"/>
            <a:chExt cx="5289197" cy="523220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45C67A7E-D59E-4E4F-A056-58AB754C8065}"/>
                </a:ext>
              </a:extLst>
            </p:cNvPr>
            <p:cNvSpPr txBox="1"/>
            <p:nvPr/>
          </p:nvSpPr>
          <p:spPr>
            <a:xfrm>
              <a:off x="3326206" y="4544080"/>
              <a:ext cx="50464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Múltiplos meios de envolvimento</a:t>
              </a:r>
            </a:p>
          </p:txBody>
        </p:sp>
        <p:sp>
          <p:nvSpPr>
            <p:cNvPr id="20" name="Estrela de 7 Pontas 21">
              <a:extLst>
                <a:ext uri="{FF2B5EF4-FFF2-40B4-BE49-F238E27FC236}">
                  <a16:creationId xmlns:a16="http://schemas.microsoft.com/office/drawing/2014/main" id="{FECA4445-0CFF-4BE7-BECA-F1744AB03074}"/>
                </a:ext>
              </a:extLst>
            </p:cNvPr>
            <p:cNvSpPr/>
            <p:nvPr/>
          </p:nvSpPr>
          <p:spPr>
            <a:xfrm>
              <a:off x="3083455" y="4713872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592453AD-602F-45B4-B6B6-7169935F96D8}"/>
              </a:ext>
            </a:extLst>
          </p:cNvPr>
          <p:cNvGrpSpPr/>
          <p:nvPr/>
        </p:nvGrpSpPr>
        <p:grpSpPr>
          <a:xfrm>
            <a:off x="12496800" y="8315880"/>
            <a:ext cx="5386210" cy="523220"/>
            <a:chOff x="3083455" y="4544080"/>
            <a:chExt cx="5386210" cy="523220"/>
          </a:xfrm>
        </p:grpSpPr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6C73A004-009C-48FA-A509-65E0641AEC06}"/>
                </a:ext>
              </a:extLst>
            </p:cNvPr>
            <p:cNvSpPr txBox="1"/>
            <p:nvPr/>
          </p:nvSpPr>
          <p:spPr>
            <a:xfrm>
              <a:off x="3326206" y="4544080"/>
              <a:ext cx="51434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Múltiplos meios de representação</a:t>
              </a:r>
            </a:p>
          </p:txBody>
        </p:sp>
        <p:sp>
          <p:nvSpPr>
            <p:cNvPr id="24" name="Estrela de 7 Pontas 21">
              <a:extLst>
                <a:ext uri="{FF2B5EF4-FFF2-40B4-BE49-F238E27FC236}">
                  <a16:creationId xmlns:a16="http://schemas.microsoft.com/office/drawing/2014/main" id="{8737A6FB-86A7-48F0-84E2-D3D20ED95B9C}"/>
                </a:ext>
              </a:extLst>
            </p:cNvPr>
            <p:cNvSpPr/>
            <p:nvPr/>
          </p:nvSpPr>
          <p:spPr>
            <a:xfrm>
              <a:off x="3083455" y="4713872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A04BDABD-637F-4740-8A05-5900FE12DE9F}"/>
              </a:ext>
            </a:extLst>
          </p:cNvPr>
          <p:cNvGrpSpPr/>
          <p:nvPr/>
        </p:nvGrpSpPr>
        <p:grpSpPr>
          <a:xfrm>
            <a:off x="12496800" y="8921462"/>
            <a:ext cx="5779523" cy="523220"/>
            <a:chOff x="3083455" y="4544080"/>
            <a:chExt cx="5779523" cy="523220"/>
          </a:xfrm>
        </p:grpSpPr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61CCEADD-B155-45FF-8D7D-EDEE9719C339}"/>
                </a:ext>
              </a:extLst>
            </p:cNvPr>
            <p:cNvSpPr txBox="1"/>
            <p:nvPr/>
          </p:nvSpPr>
          <p:spPr>
            <a:xfrm>
              <a:off x="3326206" y="4544080"/>
              <a:ext cx="55367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800" dirty="0"/>
                <a:t>Múltiplos meios de ação e expressão</a:t>
              </a:r>
            </a:p>
          </p:txBody>
        </p:sp>
        <p:sp>
          <p:nvSpPr>
            <p:cNvPr id="30" name="Estrela de 7 Pontas 21">
              <a:extLst>
                <a:ext uri="{FF2B5EF4-FFF2-40B4-BE49-F238E27FC236}">
                  <a16:creationId xmlns:a16="http://schemas.microsoft.com/office/drawing/2014/main" id="{71499A9C-10F8-4B2B-AAEC-4E83BB683242}"/>
                </a:ext>
              </a:extLst>
            </p:cNvPr>
            <p:cNvSpPr/>
            <p:nvPr/>
          </p:nvSpPr>
          <p:spPr>
            <a:xfrm>
              <a:off x="3083455" y="4713872"/>
              <a:ext cx="266700" cy="183636"/>
            </a:xfrm>
            <a:prstGeom prst="star7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84136857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A</a:t>
            </a:r>
            <a:r>
              <a:rPr lang="pt-BR" sz="7200" dirty="0"/>
              <a:t>NALYSIS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D</a:t>
            </a:r>
            <a:r>
              <a:rPr lang="pt-BR" sz="7200" dirty="0"/>
              <a:t>EVELOPMENT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FF0000"/>
                </a:solidFill>
              </a:rPr>
              <a:t>I</a:t>
            </a:r>
            <a:r>
              <a:rPr lang="pt-BR" sz="7200" dirty="0"/>
              <a:t>MPLEMENTATION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E</a:t>
            </a:r>
            <a:r>
              <a:rPr lang="pt-BR" sz="7200" dirty="0"/>
              <a:t>VALUATION</a:t>
            </a:r>
          </a:p>
        </p:txBody>
      </p:sp>
    </p:spTree>
    <p:extLst>
      <p:ext uri="{BB962C8B-B14F-4D97-AF65-F5344CB8AC3E}">
        <p14:creationId xmlns:p14="http://schemas.microsoft.com/office/powerpoint/2010/main" val="4191946761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DUA + ADDIE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3314700"/>
            <a:ext cx="3186922" cy="3991969"/>
          </a:xfrm>
          <a:prstGeom prst="rect">
            <a:avLst/>
          </a:prstGeom>
        </p:spPr>
      </p:pic>
      <p:sp>
        <p:nvSpPr>
          <p:cNvPr id="17" name="CaixaDeTexto 16"/>
          <p:cNvSpPr txBox="1"/>
          <p:nvPr/>
        </p:nvSpPr>
        <p:spPr>
          <a:xfrm>
            <a:off x="12659308" y="2136702"/>
            <a:ext cx="1579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0" dirty="0"/>
              <a:t>DUA</a:t>
            </a:r>
          </a:p>
        </p:txBody>
      </p:sp>
      <p:sp>
        <p:nvSpPr>
          <p:cNvPr id="18" name="Texto Explicativo em Elipse 17"/>
          <p:cNvSpPr/>
          <p:nvPr/>
        </p:nvSpPr>
        <p:spPr>
          <a:xfrm>
            <a:off x="11582400" y="1649696"/>
            <a:ext cx="3733800" cy="2438400"/>
          </a:xfrm>
          <a:prstGeom prst="wedgeEllipseCallout">
            <a:avLst>
              <a:gd name="adj1" fmla="val -35177"/>
              <a:gd name="adj2" fmla="val 59821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ais 18"/>
          <p:cNvSpPr/>
          <p:nvPr/>
        </p:nvSpPr>
        <p:spPr>
          <a:xfrm>
            <a:off x="6705600" y="4838700"/>
            <a:ext cx="1828800" cy="1828800"/>
          </a:xfrm>
          <a:prstGeom prst="mathPlus">
            <a:avLst/>
          </a:prstGeom>
          <a:solidFill>
            <a:srgbClr val="00B05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CaixaDeTexto 19"/>
          <p:cNvSpPr txBox="1"/>
          <p:nvPr/>
        </p:nvSpPr>
        <p:spPr>
          <a:xfrm>
            <a:off x="11640770" y="2990030"/>
            <a:ext cx="367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Desenho Universal da Aprendizagem </a:t>
            </a:r>
          </a:p>
        </p:txBody>
      </p:sp>
    </p:spTree>
    <p:extLst>
      <p:ext uri="{BB962C8B-B14F-4D97-AF65-F5344CB8AC3E}">
        <p14:creationId xmlns:p14="http://schemas.microsoft.com/office/powerpoint/2010/main" val="11808203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082565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A</a:t>
            </a:r>
            <a:r>
              <a:rPr lang="pt-BR" sz="7200" dirty="0"/>
              <a:t>NALYSIS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D</a:t>
            </a:r>
            <a:r>
              <a:rPr lang="pt-BR" sz="7200" dirty="0"/>
              <a:t>EVELOPMENT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FF0000"/>
                </a:solidFill>
              </a:rPr>
              <a:t>I</a:t>
            </a:r>
            <a:r>
              <a:rPr lang="pt-BR" sz="7200" dirty="0"/>
              <a:t>MPLEMENTATION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F0"/>
                </a:solidFill>
              </a:rPr>
              <a:t>E</a:t>
            </a:r>
            <a:r>
              <a:rPr lang="pt-BR" sz="7200" dirty="0"/>
              <a:t>VALUATION</a:t>
            </a:r>
          </a:p>
        </p:txBody>
      </p:sp>
    </p:spTree>
    <p:extLst>
      <p:ext uri="{BB962C8B-B14F-4D97-AF65-F5344CB8AC3E}">
        <p14:creationId xmlns:p14="http://schemas.microsoft.com/office/powerpoint/2010/main" val="302007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1049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ESCOPO ATUAL</a:t>
            </a:r>
          </a:p>
        </p:txBody>
      </p:sp>
      <p:grpSp>
        <p:nvGrpSpPr>
          <p:cNvPr id="23" name="Agrupar 22"/>
          <p:cNvGrpSpPr/>
          <p:nvPr/>
        </p:nvGrpSpPr>
        <p:grpSpPr>
          <a:xfrm>
            <a:off x="1546916" y="3009900"/>
            <a:ext cx="3352800" cy="2563743"/>
            <a:chOff x="1981200" y="2884556"/>
            <a:chExt cx="3352800" cy="2563743"/>
          </a:xfrm>
        </p:grpSpPr>
        <p:sp>
          <p:nvSpPr>
            <p:cNvPr id="22" name="Nuvem 21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/>
            <p:cNvSpPr txBox="1"/>
            <p:nvPr/>
          </p:nvSpPr>
          <p:spPr>
            <a:xfrm>
              <a:off x="2482171" y="3695700"/>
              <a:ext cx="25146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4000" dirty="0">
                  <a:solidFill>
                    <a:schemeClr val="bg1"/>
                  </a:solidFill>
                </a:rPr>
                <a:t>HUMANAS</a:t>
              </a:r>
            </a:p>
          </p:txBody>
        </p:sp>
      </p:grpSp>
      <p:grpSp>
        <p:nvGrpSpPr>
          <p:cNvPr id="24" name="Agrupar 23"/>
          <p:cNvGrpSpPr/>
          <p:nvPr/>
        </p:nvGrpSpPr>
        <p:grpSpPr>
          <a:xfrm>
            <a:off x="4419600" y="6863090"/>
            <a:ext cx="3352800" cy="2563743"/>
            <a:chOff x="1981200" y="2884556"/>
            <a:chExt cx="3352800" cy="2563743"/>
          </a:xfrm>
          <a:solidFill>
            <a:srgbClr val="00B050"/>
          </a:solidFill>
        </p:grpSpPr>
        <p:sp>
          <p:nvSpPr>
            <p:cNvPr id="25" name="Nuvem 24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/>
            <p:cNvSpPr txBox="1"/>
            <p:nvPr/>
          </p:nvSpPr>
          <p:spPr>
            <a:xfrm>
              <a:off x="2152650" y="3705102"/>
              <a:ext cx="30099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>
                  <a:solidFill>
                    <a:schemeClr val="bg1"/>
                  </a:solidFill>
                </a:rPr>
                <a:t>PDF &amp; TEXTO</a:t>
              </a:r>
            </a:p>
          </p:txBody>
        </p:sp>
      </p:grpSp>
      <p:grpSp>
        <p:nvGrpSpPr>
          <p:cNvPr id="27" name="Agrupar 26"/>
          <p:cNvGrpSpPr/>
          <p:nvPr/>
        </p:nvGrpSpPr>
        <p:grpSpPr>
          <a:xfrm>
            <a:off x="8382000" y="3009899"/>
            <a:ext cx="3352800" cy="2563743"/>
            <a:chOff x="1981200" y="2884556"/>
            <a:chExt cx="3352800" cy="2563743"/>
          </a:xfrm>
          <a:solidFill>
            <a:srgbClr val="7030A0"/>
          </a:solidFill>
        </p:grpSpPr>
        <p:sp>
          <p:nvSpPr>
            <p:cNvPr id="28" name="Nuvem 27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>
                  <a:solidFill>
                    <a:schemeClr val="bg1"/>
                  </a:solidFill>
                </a:rPr>
                <a:t>NÍVEL 1</a:t>
              </a:r>
            </a:p>
          </p:txBody>
        </p:sp>
      </p:grpSp>
      <p:grpSp>
        <p:nvGrpSpPr>
          <p:cNvPr id="30" name="Agrupar 29"/>
          <p:cNvGrpSpPr/>
          <p:nvPr/>
        </p:nvGrpSpPr>
        <p:grpSpPr>
          <a:xfrm>
            <a:off x="12420600" y="6863089"/>
            <a:ext cx="3352800" cy="2563743"/>
            <a:chOff x="1981200" y="2884556"/>
            <a:chExt cx="3352800" cy="2563743"/>
          </a:xfrm>
          <a:solidFill>
            <a:srgbClr val="FF0000"/>
          </a:solidFill>
        </p:grpSpPr>
        <p:sp>
          <p:nvSpPr>
            <p:cNvPr id="31" name="Nuvem 30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>
                  <a:solidFill>
                    <a:schemeClr val="bg1"/>
                  </a:solidFill>
                </a:rPr>
                <a:t>ADDI</a:t>
              </a: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7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</a:p>
        </p:txBody>
      </p:sp>
      <p:pic>
        <p:nvPicPr>
          <p:cNvPr id="17" name="Imagem 16"/>
          <p:cNvPicPr/>
          <p:nvPr/>
        </p:nvPicPr>
        <p:blipFill>
          <a:blip r:embed="rId6"/>
          <a:stretch>
            <a:fillRect/>
          </a:stretch>
        </p:blipFill>
        <p:spPr>
          <a:xfrm>
            <a:off x="4876800" y="1397306"/>
            <a:ext cx="11366171" cy="7324636"/>
          </a:xfrm>
          <a:prstGeom prst="rect">
            <a:avLst/>
          </a:prstGeom>
        </p:spPr>
      </p:pic>
      <p:sp>
        <p:nvSpPr>
          <p:cNvPr id="18" name="CaixaDeTexto 17"/>
          <p:cNvSpPr txBox="1"/>
          <p:nvPr/>
        </p:nvSpPr>
        <p:spPr>
          <a:xfrm>
            <a:off x="10210800" y="8796635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A</a:t>
            </a:r>
            <a:r>
              <a:rPr lang="pt-BR" sz="5400" dirty="0"/>
              <a:t> </a:t>
            </a:r>
            <a:r>
              <a:rPr lang="pt-BR" sz="5400" dirty="0">
                <a:solidFill>
                  <a:srgbClr val="00B05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 err="1">
                <a:solidFill>
                  <a:srgbClr val="00B0F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12649200" y="8935134"/>
            <a:ext cx="18549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Agindo...</a:t>
            </a:r>
          </a:p>
        </p:txBody>
      </p:sp>
    </p:spTree>
    <p:extLst>
      <p:ext uri="{BB962C8B-B14F-4D97-AF65-F5344CB8AC3E}">
        <p14:creationId xmlns:p14="http://schemas.microsoft.com/office/powerpoint/2010/main" val="10078955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6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3" grpId="0"/>
      <p:bldP spid="23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/>
          <p:cNvPicPr/>
          <p:nvPr/>
        </p:nvPicPr>
        <p:blipFill>
          <a:blip r:embed="rId2"/>
          <a:stretch>
            <a:fillRect/>
          </a:stretch>
        </p:blipFill>
        <p:spPr>
          <a:xfrm>
            <a:off x="4917453" y="1695799"/>
            <a:ext cx="11366171" cy="7218129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</a:p>
        </p:txBody>
      </p:sp>
      <p:sp>
        <p:nvSpPr>
          <p:cNvPr id="18" name="CaixaDeTexto 17"/>
          <p:cNvSpPr txBox="1"/>
          <p:nvPr/>
        </p:nvSpPr>
        <p:spPr>
          <a:xfrm>
            <a:off x="10210800" y="8796635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A</a:t>
            </a:r>
            <a:r>
              <a:rPr lang="pt-BR" sz="5400" dirty="0"/>
              <a:t> </a:t>
            </a:r>
            <a:r>
              <a:rPr lang="pt-BR" sz="5400" dirty="0">
                <a:solidFill>
                  <a:srgbClr val="00B05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 err="1">
                <a:solidFill>
                  <a:srgbClr val="00B0F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12649200" y="8935134"/>
            <a:ext cx="18549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Agindo...</a:t>
            </a:r>
          </a:p>
        </p:txBody>
      </p:sp>
    </p:spTree>
    <p:extLst>
      <p:ext uri="{BB962C8B-B14F-4D97-AF65-F5344CB8AC3E}">
        <p14:creationId xmlns:p14="http://schemas.microsoft.com/office/powerpoint/2010/main" val="492193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6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3" grpId="0"/>
      <p:bldP spid="23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/>
          <p:cNvPicPr/>
          <p:nvPr/>
        </p:nvPicPr>
        <p:blipFill>
          <a:blip r:embed="rId2"/>
          <a:stretch>
            <a:fillRect/>
          </a:stretch>
        </p:blipFill>
        <p:spPr>
          <a:xfrm>
            <a:off x="4920767" y="1551853"/>
            <a:ext cx="11362858" cy="7206533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</a:p>
        </p:txBody>
      </p:sp>
      <p:sp>
        <p:nvSpPr>
          <p:cNvPr id="18" name="CaixaDeTexto 17"/>
          <p:cNvSpPr txBox="1"/>
          <p:nvPr/>
        </p:nvSpPr>
        <p:spPr>
          <a:xfrm>
            <a:off x="10210800" y="8796635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A</a:t>
            </a:r>
            <a:r>
              <a:rPr lang="pt-BR" sz="5400" dirty="0"/>
              <a:t> </a:t>
            </a:r>
            <a:r>
              <a:rPr lang="pt-BR" sz="5400" dirty="0">
                <a:solidFill>
                  <a:srgbClr val="00B05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 err="1">
                <a:solidFill>
                  <a:srgbClr val="00B0F0"/>
                </a:solidFill>
              </a:rPr>
              <a:t>D</a:t>
            </a:r>
            <a:r>
              <a:rPr lang="pt-BR" sz="5400" dirty="0"/>
              <a:t> </a:t>
            </a:r>
            <a:r>
              <a:rPr lang="pt-BR" sz="5400" dirty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12649200" y="8935134"/>
            <a:ext cx="18549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/>
              <a:t>Agindo...</a:t>
            </a:r>
          </a:p>
        </p:txBody>
      </p:sp>
    </p:spTree>
    <p:extLst>
      <p:ext uri="{BB962C8B-B14F-4D97-AF65-F5344CB8AC3E}">
        <p14:creationId xmlns:p14="http://schemas.microsoft.com/office/powerpoint/2010/main" val="8987069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6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3" grpId="0"/>
      <p:bldP spid="23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</a:p>
        </p:txBody>
      </p:sp>
      <p:pic>
        <p:nvPicPr>
          <p:cNvPr id="18" name="Imagem 17"/>
          <p:cNvPicPr/>
          <p:nvPr/>
        </p:nvPicPr>
        <p:blipFill>
          <a:blip r:embed="rId4"/>
          <a:stretch>
            <a:fillRect/>
          </a:stretch>
        </p:blipFill>
        <p:spPr>
          <a:xfrm>
            <a:off x="8686800" y="-8283"/>
            <a:ext cx="9601200" cy="1029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79124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</a:p>
        </p:txBody>
      </p:sp>
      <p:pic>
        <p:nvPicPr>
          <p:cNvPr id="6" name="Imagem 5"/>
          <p:cNvPicPr/>
          <p:nvPr/>
        </p:nvPicPr>
        <p:blipFill>
          <a:blip r:embed="rId4"/>
          <a:stretch>
            <a:fillRect/>
          </a:stretch>
        </p:blipFill>
        <p:spPr>
          <a:xfrm>
            <a:off x="8696738" y="0"/>
            <a:ext cx="9601201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94994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</a:p>
        </p:txBody>
      </p:sp>
      <p:pic>
        <p:nvPicPr>
          <p:cNvPr id="7" name="Imagem 6"/>
          <p:cNvPicPr/>
          <p:nvPr/>
        </p:nvPicPr>
        <p:blipFill>
          <a:blip r:embed="rId4"/>
          <a:stretch>
            <a:fillRect/>
          </a:stretch>
        </p:blipFill>
        <p:spPr>
          <a:xfrm>
            <a:off x="8686799" y="0"/>
            <a:ext cx="9601201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152684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090376" y="3193335"/>
            <a:ext cx="4034075" cy="4034075"/>
            <a:chOff x="0" y="0"/>
            <a:chExt cx="5378766" cy="5378766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0" y="0"/>
              <a:ext cx="5378766" cy="5378766"/>
            </a:xfrm>
            <a:prstGeom prst="rect">
              <a:avLst/>
            </a:prstGeom>
          </p:spPr>
        </p:pic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39653" y="7475060"/>
            <a:ext cx="273552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b="1">
                <a:solidFill>
                  <a:srgbClr val="2F3C8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Professores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110667" y="7925201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Professores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Aranha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2357898" y="2976344"/>
            <a:ext cx="925970" cy="11429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226"/>
              </a:lnSpc>
            </a:pPr>
            <a:r>
              <a:rPr lang="en-US" sz="2304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25553" y="1922426"/>
            <a:ext cx="6436894" cy="61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6"/>
              </a:lnSpc>
            </a:pPr>
            <a:r>
              <a:rPr lang="en-US" sz="44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PÚBLICO-ALVO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241" y="3695700"/>
            <a:ext cx="2682301" cy="3359876"/>
          </a:xfrm>
          <a:prstGeom prst="rect">
            <a:avLst/>
          </a:prstGeom>
        </p:spPr>
      </p:pic>
      <p:grpSp>
        <p:nvGrpSpPr>
          <p:cNvPr id="21" name="Agrupar 20"/>
          <p:cNvGrpSpPr/>
          <p:nvPr/>
        </p:nvGrpSpPr>
        <p:grpSpPr>
          <a:xfrm>
            <a:off x="3276668" y="3475991"/>
            <a:ext cx="925970" cy="925970"/>
            <a:chOff x="3110667" y="1508773"/>
            <a:chExt cx="925970" cy="925970"/>
          </a:xfrm>
        </p:grpSpPr>
        <p:grpSp>
          <p:nvGrpSpPr>
            <p:cNvPr id="12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20" name="Estrela de 7 Pontas 19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5" name="Agrupar 34"/>
          <p:cNvGrpSpPr/>
          <p:nvPr/>
        </p:nvGrpSpPr>
        <p:grpSpPr>
          <a:xfrm>
            <a:off x="11658600" y="3475991"/>
            <a:ext cx="925970" cy="925970"/>
            <a:chOff x="3110667" y="1508773"/>
            <a:chExt cx="925970" cy="925970"/>
          </a:xfrm>
        </p:grpSpPr>
        <p:grpSp>
          <p:nvGrpSpPr>
            <p:cNvPr id="36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38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9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37" name="Estrela de 7 Pontas 36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0" name="TextBox 17"/>
          <p:cNvSpPr txBox="1"/>
          <p:nvPr/>
        </p:nvSpPr>
        <p:spPr>
          <a:xfrm>
            <a:off x="11630297" y="7919206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Alunos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Transtorno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Espectro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Autista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599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nível</a:t>
            </a:r>
            <a:r>
              <a:rPr lang="en-US" sz="1599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</a:p>
        </p:txBody>
      </p:sp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MUITO OBRIGADO!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425532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503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055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ÁPRESENTAÇÃO TÉCNICA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2624559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</a:p>
          <a:p>
            <a:pPr marL="0" lvl="0" indent="0" algn="l">
              <a:lnSpc>
                <a:spcPts val="4756"/>
              </a:lnSpc>
            </a:pPr>
            <a:r>
              <a:rPr lang="en-US" sz="3997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UPLOAD</a:t>
            </a: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304906"/>
            <a:ext cx="14892548" cy="7093450"/>
          </a:xfrm>
          <a:prstGeom prst="rect">
            <a:avLst/>
          </a:prstGeom>
        </p:spPr>
      </p:pic>
      <p:sp>
        <p:nvSpPr>
          <p:cNvPr id="12" name="Arredondar Retângulo em um Canto Diagonal 11"/>
          <p:cNvSpPr/>
          <p:nvPr/>
        </p:nvSpPr>
        <p:spPr>
          <a:xfrm>
            <a:off x="11658600" y="6896100"/>
            <a:ext cx="36576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51735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070030"/>
            <a:ext cx="14787991" cy="7288533"/>
          </a:xfrm>
          <a:prstGeom prst="rect">
            <a:avLst/>
          </a:prstGeom>
        </p:spPr>
      </p:pic>
      <p:sp>
        <p:nvSpPr>
          <p:cNvPr id="33" name="Arredondar Retângulo em um Canto Diagonal 32"/>
          <p:cNvSpPr/>
          <p:nvPr/>
        </p:nvSpPr>
        <p:spPr>
          <a:xfrm>
            <a:off x="11811000" y="3862719"/>
            <a:ext cx="16002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30108" y="1028700"/>
            <a:ext cx="12729192" cy="8229600"/>
            <a:chOff x="0" y="0"/>
            <a:chExt cx="16972256" cy="109728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 t="172" b="172"/>
            <a:stretch>
              <a:fillRect/>
            </a:stretch>
          </p:blipFill>
          <p:spPr>
            <a:xfrm>
              <a:off x="0" y="0"/>
              <a:ext cx="16972256" cy="10972800"/>
            </a:xfrm>
            <a:prstGeom prst="rect">
              <a:avLst/>
            </a:prstGeom>
          </p:spPr>
        </p:pic>
      </p:grpSp>
      <p:grpSp>
        <p:nvGrpSpPr>
          <p:cNvPr id="12" name="Group 12"/>
          <p:cNvGrpSpPr/>
          <p:nvPr/>
        </p:nvGrpSpPr>
        <p:grpSpPr>
          <a:xfrm>
            <a:off x="0" y="1028700"/>
            <a:ext cx="4530108" cy="8229600"/>
            <a:chOff x="0" y="0"/>
            <a:chExt cx="1193115" cy="21674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3115" cy="2167467"/>
            </a:xfrm>
            <a:custGeom>
              <a:avLst/>
              <a:gdLst/>
              <a:ahLst/>
              <a:cxnLst/>
              <a:rect l="l" t="t" r="r" b="b"/>
              <a:pathLst>
                <a:path w="1193115" h="2167467">
                  <a:moveTo>
                    <a:pt x="0" y="0"/>
                  </a:moveTo>
                  <a:lnTo>
                    <a:pt x="1193115" y="0"/>
                  </a:lnTo>
                  <a:lnTo>
                    <a:pt x="11931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193115" cy="2224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5240" y="3233635"/>
            <a:ext cx="12085285" cy="3819729"/>
            <a:chOff x="0" y="0"/>
            <a:chExt cx="3182956" cy="10060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182956" cy="1006019"/>
            </a:xfrm>
            <a:custGeom>
              <a:avLst/>
              <a:gdLst/>
              <a:ahLst/>
              <a:cxnLst/>
              <a:rect l="l" t="t" r="r" b="b"/>
              <a:pathLst>
                <a:path w="3182956" h="1006019">
                  <a:moveTo>
                    <a:pt x="0" y="0"/>
                  </a:moveTo>
                  <a:lnTo>
                    <a:pt x="3182956" y="0"/>
                  </a:lnTo>
                  <a:lnTo>
                    <a:pt x="3182956" y="1006019"/>
                  </a:lnTo>
                  <a:lnTo>
                    <a:pt x="0" y="100601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182956" cy="1063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96258" y="498624"/>
            <a:ext cx="13859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7856" y="3748151"/>
            <a:ext cx="10229895" cy="39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>
                <a:solidFill>
                  <a:srgbClr val="2F3C81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7856" y="5038725"/>
            <a:ext cx="10882010" cy="1212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UMA PROPOSTA QUE UNE INTELIGÊNCIA ARTIFICIAL E EDUCAÇÃO INCLUSIVA PARA APOIAR PROFESSORES NA CONSTRUÇÃO DE UM ENSINO MAIS ACESSÍVEL, PERSONALIZADO E EFICIENTE.</a:t>
            </a:r>
          </a:p>
        </p:txBody>
      </p:sp>
      <p:sp>
        <p:nvSpPr>
          <p:cNvPr id="22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282</Words>
  <Application>Microsoft Office PowerPoint</Application>
  <PresentationFormat>Personalizar</PresentationFormat>
  <Paragraphs>116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0" baseType="lpstr">
      <vt:lpstr>Open Sans Bold</vt:lpstr>
      <vt:lpstr>TT Supermolot Neue Expanded</vt:lpstr>
      <vt:lpstr>Open Sans</vt:lpstr>
      <vt:lpstr>Calibri</vt:lpstr>
      <vt:lpstr>Arial</vt:lpstr>
      <vt:lpstr>TT Supermolot Neue Expanded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TeaLearn: Educação Inclusiva com IA</dc:title>
  <cp:lastModifiedBy>CAMARGO</cp:lastModifiedBy>
  <cp:revision>35</cp:revision>
  <dcterms:created xsi:type="dcterms:W3CDTF">2006-08-16T00:00:00Z</dcterms:created>
  <dcterms:modified xsi:type="dcterms:W3CDTF">2026-09-03T11:02:50Z</dcterms:modified>
  <dc:identifier>DAHRdgpuW4c</dc:identifier>
</cp:coreProperties>
</file>